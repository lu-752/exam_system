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5" Type="http://schemas.openxmlformats.org/officeDocument/2006/relationships/slide" Target="slides/slide5.xml" /><Relationship Id="rId1" Type="http://schemas.openxmlformats.org/officeDocument/2006/relationships/slide" Target="slides/slide1.xml" /><Relationship Id="rId12" Type="http://schemas.openxmlformats.org/officeDocument/2006/relationships/slide" Target="slides/slide12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3" Type="http://schemas.openxmlformats.org/officeDocument/2006/relationships/notesMaster" Target="notesMasters/notesMaster1.xml" /><Relationship Id="rId14" Type="http://schemas.openxmlformats.org/officeDocument/2006/relationships/presProps" Target="presProps.xml" /><Relationship Id="rId16" Type="http://schemas.openxmlformats.org/officeDocument/2006/relationships/viewProps" Target="viewProps.xml" /><Relationship Id="rId8" Type="http://schemas.openxmlformats.org/officeDocument/2006/relationships/slide" Target="slides/slide8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pn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pn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4.pn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 1280, height: 720, background: 'linear-gradient(135deg, #1B2A5B 0%, #2F4FA0 100%)', padding: 0, position: 'relative', overflow: 'hidden' }}&gt;&#10;  &lt;Box style={{ position: 'absolute', right: -140, top: -140, width: 560, height: 560, borderRadius: 280, background: 'rgba(255,255,255,0.06)' }} /&gt;&#10;  &lt;Box style={{ position: 'absolute', right: 160, bottom: -180, width: 420, height: 420, borderRadius: 210, background: 'rgba(255,255,255,0.05)' }} /&gt;&#10;&#10;  &lt;Box style={{ padding: 80, height: '100%', flexDirection: 'column', justifyContent: 'center', position: 'relative', zIndex: 1 }}&gt;&#10;    &lt;Box style={{ flexDirection: 'row', alignItems: 'center', gap: 12, marginBottom: 40 }}&gt;&#10;      &lt;Box style={{ width: 44, height: 44, borderRadius: 10, background: 'rgba(255,255,255,0.18)' }} /&gt;&#10;      &lt;Text style={{ fontSize: 16, color: '#DCE6FF', letterSpacing: 3 }}&gt;EXAM SYSTEM&lt;/Text&gt;&#10;    &lt;/Box&gt;&#10;&#10;    &lt;Text style={{ fontSize: 68, fontWeight: 'bold', color: '#FFFFFF', lineHeight: 1.15, letterSpacing: 2 }}&gt;考试系统&lt;/Text&gt;&#10;    &lt;Text style={{ fontSize: 30, color: '#C9D6F5', marginTop: 18, letterSpacing: 1 }}&gt;一体化在线考试平台&lt;/Text&gt;&#10;&#10;    &lt;Box style={{ width: 96, height: 4, background: '#4F7BE8', marginTop: 34, marginBottom: 30 }} /&gt;&#10;&#10;    &lt;Text style={{ fontSize: 18, color: '#B6C4E6', lineHeight: 1.8 }}&gt;&#10;      从命题到成绩，一条链路跑完&lt;br /&gt;&#10;      大纲 · 题库 · 组卷 · 考试 · 监考 · 阅卷&#10;    &lt;/Text&gt;&#10;&#10;    &lt;Text style={{ fontSize: 14, color: '#8C9BC4', marginTop: 64, letterSpacing: 1 }}&gt;产品演示材料　|　2026 年 10 月&lt;/Text&gt;&#10;  &lt;/Box&gt;&#10;&#10;  &lt;Box style={{ position: 'absolute', left: 80, bottom: 44, flexDirection: 'row', gap: 28 }}&gt;&#10;    &lt;Text style={{ fontSize: 13, color: '#8C9BC4' }}&gt;单包交付&lt;/Text&gt;&#10;    &lt;Text style={{ fontSize: 13, color: '#8C9BC4' }}&gt;零依赖启动&lt;/Text&gt;&#10;    &lt;Text style={{ fontSize: 13, color: '#8C9BC4' }}&gt;全链路数据打通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2A5B"/>
              </a:gs>
              <a:gs pos="100000">
                <a:srgbClr val="2F4FA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8191500" y="-1333500"/>
            <a:ext cx="5334000" cy="5334000"/>
          </a:xfrm>
          <a:custGeom>
            <a:pathLst>
              <a:path w="560" h="560">
                <a:moveTo>
                  <a:pt x="420" y="522"/>
                </a:moveTo>
                <a:lnTo>
                  <a:pt x="419" y="523"/>
                </a:lnTo>
                <a:lnTo>
                  <a:pt x="413" y="526"/>
                </a:lnTo>
                <a:lnTo>
                  <a:pt x="407" y="529"/>
                </a:lnTo>
                <a:lnTo>
                  <a:pt x="401" y="532"/>
                </a:lnTo>
                <a:lnTo>
                  <a:pt x="395" y="535"/>
                </a:lnTo>
                <a:lnTo>
                  <a:pt x="389" y="538"/>
                </a:lnTo>
                <a:lnTo>
                  <a:pt x="383" y="541"/>
                </a:lnTo>
                <a:lnTo>
                  <a:pt x="376" y="543"/>
                </a:lnTo>
                <a:lnTo>
                  <a:pt x="370" y="545"/>
                </a:lnTo>
                <a:lnTo>
                  <a:pt x="363" y="547"/>
                </a:lnTo>
                <a:lnTo>
                  <a:pt x="357" y="549"/>
                </a:lnTo>
                <a:lnTo>
                  <a:pt x="350" y="551"/>
                </a:lnTo>
                <a:lnTo>
                  <a:pt x="343" y="553"/>
                </a:lnTo>
                <a:lnTo>
                  <a:pt x="336" y="554"/>
                </a:lnTo>
                <a:lnTo>
                  <a:pt x="330" y="556"/>
                </a:lnTo>
                <a:lnTo>
                  <a:pt x="323" y="557"/>
                </a:lnTo>
                <a:lnTo>
                  <a:pt x="316" y="558"/>
                </a:lnTo>
                <a:lnTo>
                  <a:pt x="309" y="559"/>
                </a:lnTo>
                <a:lnTo>
                  <a:pt x="302" y="559"/>
                </a:lnTo>
                <a:lnTo>
                  <a:pt x="294" y="560"/>
                </a:lnTo>
                <a:lnTo>
                  <a:pt x="287" y="560"/>
                </a:lnTo>
                <a:lnTo>
                  <a:pt x="280" y="560"/>
                </a:lnTo>
                <a:lnTo>
                  <a:pt x="273" y="560"/>
                </a:lnTo>
                <a:lnTo>
                  <a:pt x="266" y="560"/>
                </a:lnTo>
                <a:lnTo>
                  <a:pt x="258" y="559"/>
                </a:lnTo>
                <a:lnTo>
                  <a:pt x="251" y="559"/>
                </a:lnTo>
                <a:lnTo>
                  <a:pt x="244" y="558"/>
                </a:lnTo>
                <a:lnTo>
                  <a:pt x="237" y="557"/>
                </a:lnTo>
                <a:lnTo>
                  <a:pt x="230" y="556"/>
                </a:lnTo>
                <a:lnTo>
                  <a:pt x="224" y="554"/>
                </a:lnTo>
                <a:lnTo>
                  <a:pt x="217" y="553"/>
                </a:lnTo>
                <a:lnTo>
                  <a:pt x="210" y="551"/>
                </a:lnTo>
                <a:lnTo>
                  <a:pt x="203" y="549"/>
                </a:lnTo>
                <a:lnTo>
                  <a:pt x="197" y="547"/>
                </a:lnTo>
                <a:lnTo>
                  <a:pt x="190" y="545"/>
                </a:lnTo>
                <a:lnTo>
                  <a:pt x="184" y="543"/>
                </a:lnTo>
                <a:lnTo>
                  <a:pt x="177" y="541"/>
                </a:lnTo>
                <a:lnTo>
                  <a:pt x="171" y="538"/>
                </a:lnTo>
                <a:lnTo>
                  <a:pt x="165" y="535"/>
                </a:lnTo>
                <a:lnTo>
                  <a:pt x="159" y="532"/>
                </a:lnTo>
                <a:lnTo>
                  <a:pt x="153" y="529"/>
                </a:lnTo>
                <a:lnTo>
                  <a:pt x="147" y="526"/>
                </a:lnTo>
                <a:lnTo>
                  <a:pt x="141" y="523"/>
                </a:lnTo>
                <a:lnTo>
                  <a:pt x="135" y="519"/>
                </a:lnTo>
                <a:lnTo>
                  <a:pt x="129" y="516"/>
                </a:lnTo>
                <a:lnTo>
                  <a:pt x="123" y="512"/>
                </a:lnTo>
                <a:lnTo>
                  <a:pt x="118" y="508"/>
                </a:lnTo>
                <a:lnTo>
                  <a:pt x="113" y="504"/>
                </a:lnTo>
                <a:lnTo>
                  <a:pt x="107" y="500"/>
                </a:lnTo>
                <a:lnTo>
                  <a:pt x="102" y="496"/>
                </a:lnTo>
                <a:lnTo>
                  <a:pt x="97" y="492"/>
                </a:lnTo>
                <a:lnTo>
                  <a:pt x="92" y="487"/>
                </a:lnTo>
                <a:lnTo>
                  <a:pt x="87" y="483"/>
                </a:lnTo>
                <a:lnTo>
                  <a:pt x="82" y="478"/>
                </a:lnTo>
                <a:lnTo>
                  <a:pt x="77" y="473"/>
                </a:lnTo>
                <a:lnTo>
                  <a:pt x="73" y="468"/>
                </a:lnTo>
                <a:lnTo>
                  <a:pt x="68" y="463"/>
                </a:lnTo>
                <a:lnTo>
                  <a:pt x="64" y="458"/>
                </a:lnTo>
                <a:lnTo>
                  <a:pt x="60" y="453"/>
                </a:lnTo>
                <a:lnTo>
                  <a:pt x="56" y="447"/>
                </a:lnTo>
                <a:lnTo>
                  <a:pt x="52" y="442"/>
                </a:lnTo>
                <a:lnTo>
                  <a:pt x="48" y="437"/>
                </a:lnTo>
                <a:lnTo>
                  <a:pt x="44" y="431"/>
                </a:lnTo>
                <a:lnTo>
                  <a:pt x="41" y="425"/>
                </a:lnTo>
                <a:lnTo>
                  <a:pt x="37" y="419"/>
                </a:lnTo>
                <a:lnTo>
                  <a:pt x="34" y="413"/>
                </a:lnTo>
                <a:lnTo>
                  <a:pt x="31" y="407"/>
                </a:lnTo>
                <a:lnTo>
                  <a:pt x="28" y="401"/>
                </a:lnTo>
                <a:lnTo>
                  <a:pt x="25" y="395"/>
                </a:lnTo>
                <a:lnTo>
                  <a:pt x="22" y="389"/>
                </a:lnTo>
                <a:lnTo>
                  <a:pt x="19" y="383"/>
                </a:lnTo>
                <a:lnTo>
                  <a:pt x="17" y="376"/>
                </a:lnTo>
                <a:lnTo>
                  <a:pt x="15" y="370"/>
                </a:lnTo>
                <a:lnTo>
                  <a:pt x="13" y="363"/>
                </a:lnTo>
                <a:lnTo>
                  <a:pt x="11" y="357"/>
                </a:lnTo>
                <a:lnTo>
                  <a:pt x="9" y="350"/>
                </a:lnTo>
                <a:lnTo>
                  <a:pt x="7" y="343"/>
                </a:lnTo>
                <a:lnTo>
                  <a:pt x="6" y="336"/>
                </a:lnTo>
                <a:lnTo>
                  <a:pt x="4" y="330"/>
                </a:lnTo>
                <a:lnTo>
                  <a:pt x="3" y="323"/>
                </a:lnTo>
                <a:lnTo>
                  <a:pt x="2" y="316"/>
                </a:lnTo>
                <a:lnTo>
                  <a:pt x="1" y="309"/>
                </a:lnTo>
                <a:lnTo>
                  <a:pt x="1" y="302"/>
                </a:lnTo>
                <a:lnTo>
                  <a:pt x="0" y="294"/>
                </a:lnTo>
                <a:lnTo>
                  <a:pt x="0" y="287"/>
                </a:lnTo>
                <a:lnTo>
                  <a:pt x="0" y="280"/>
                </a:lnTo>
                <a:lnTo>
                  <a:pt x="0" y="273"/>
                </a:lnTo>
                <a:lnTo>
                  <a:pt x="0" y="266"/>
                </a:lnTo>
                <a:lnTo>
                  <a:pt x="1" y="258"/>
                </a:lnTo>
                <a:lnTo>
                  <a:pt x="1" y="251"/>
                </a:lnTo>
                <a:lnTo>
                  <a:pt x="2" y="244"/>
                </a:lnTo>
                <a:lnTo>
                  <a:pt x="3" y="237"/>
                </a:lnTo>
                <a:lnTo>
                  <a:pt x="4" y="230"/>
                </a:lnTo>
                <a:lnTo>
                  <a:pt x="6" y="224"/>
                </a:lnTo>
                <a:lnTo>
                  <a:pt x="7" y="217"/>
                </a:lnTo>
                <a:lnTo>
                  <a:pt x="9" y="210"/>
                </a:lnTo>
                <a:lnTo>
                  <a:pt x="11" y="203"/>
                </a:lnTo>
                <a:lnTo>
                  <a:pt x="13" y="197"/>
                </a:lnTo>
                <a:lnTo>
                  <a:pt x="15" y="190"/>
                </a:lnTo>
                <a:lnTo>
                  <a:pt x="17" y="184"/>
                </a:lnTo>
                <a:lnTo>
                  <a:pt x="19" y="177"/>
                </a:lnTo>
                <a:lnTo>
                  <a:pt x="22" y="171"/>
                </a:lnTo>
                <a:lnTo>
                  <a:pt x="25" y="165"/>
                </a:lnTo>
                <a:lnTo>
                  <a:pt x="28" y="159"/>
                </a:lnTo>
                <a:lnTo>
                  <a:pt x="31" y="153"/>
                </a:lnTo>
                <a:lnTo>
                  <a:pt x="34" y="147"/>
                </a:lnTo>
                <a:lnTo>
                  <a:pt x="37" y="141"/>
                </a:lnTo>
                <a:lnTo>
                  <a:pt x="38" y="140"/>
                </a:lnTo>
                <a:lnTo>
                  <a:pt x="420" y="140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6667500" y="4572000"/>
            <a:ext cx="4000500" cy="4000500"/>
          </a:xfrm>
          <a:custGeom>
            <a:pathLst>
              <a:path w="420" h="420">
                <a:moveTo>
                  <a:pt x="215" y="0"/>
                </a:moveTo>
                <a:lnTo>
                  <a:pt x="221" y="0"/>
                </a:lnTo>
                <a:lnTo>
                  <a:pt x="226" y="1"/>
                </a:lnTo>
                <a:lnTo>
                  <a:pt x="231" y="1"/>
                </a:lnTo>
                <a:lnTo>
                  <a:pt x="237" y="2"/>
                </a:lnTo>
                <a:lnTo>
                  <a:pt x="242" y="2"/>
                </a:lnTo>
                <a:lnTo>
                  <a:pt x="247" y="3"/>
                </a:lnTo>
                <a:lnTo>
                  <a:pt x="252" y="4"/>
                </a:lnTo>
                <a:lnTo>
                  <a:pt x="257" y="5"/>
                </a:lnTo>
                <a:lnTo>
                  <a:pt x="262" y="7"/>
                </a:lnTo>
                <a:lnTo>
                  <a:pt x="267" y="8"/>
                </a:lnTo>
                <a:lnTo>
                  <a:pt x="272" y="9"/>
                </a:lnTo>
                <a:lnTo>
                  <a:pt x="277" y="11"/>
                </a:lnTo>
                <a:lnTo>
                  <a:pt x="282" y="13"/>
                </a:lnTo>
                <a:lnTo>
                  <a:pt x="287" y="15"/>
                </a:lnTo>
                <a:lnTo>
                  <a:pt x="292" y="17"/>
                </a:lnTo>
                <a:lnTo>
                  <a:pt x="296" y="19"/>
                </a:lnTo>
                <a:lnTo>
                  <a:pt x="301" y="21"/>
                </a:lnTo>
                <a:lnTo>
                  <a:pt x="306" y="23"/>
                </a:lnTo>
                <a:lnTo>
                  <a:pt x="310" y="25"/>
                </a:lnTo>
                <a:lnTo>
                  <a:pt x="314" y="28"/>
                </a:lnTo>
                <a:lnTo>
                  <a:pt x="319" y="30"/>
                </a:lnTo>
                <a:lnTo>
                  <a:pt x="323" y="33"/>
                </a:lnTo>
                <a:lnTo>
                  <a:pt x="327" y="36"/>
                </a:lnTo>
                <a:lnTo>
                  <a:pt x="332" y="39"/>
                </a:lnTo>
                <a:lnTo>
                  <a:pt x="336" y="42"/>
                </a:lnTo>
                <a:lnTo>
                  <a:pt x="340" y="45"/>
                </a:lnTo>
                <a:lnTo>
                  <a:pt x="344" y="48"/>
                </a:lnTo>
                <a:lnTo>
                  <a:pt x="347" y="51"/>
                </a:lnTo>
                <a:lnTo>
                  <a:pt x="351" y="55"/>
                </a:lnTo>
                <a:lnTo>
                  <a:pt x="355" y="58"/>
                </a:lnTo>
                <a:lnTo>
                  <a:pt x="358" y="62"/>
                </a:lnTo>
                <a:lnTo>
                  <a:pt x="362" y="65"/>
                </a:lnTo>
                <a:lnTo>
                  <a:pt x="365" y="69"/>
                </a:lnTo>
                <a:lnTo>
                  <a:pt x="369" y="73"/>
                </a:lnTo>
                <a:lnTo>
                  <a:pt x="372" y="76"/>
                </a:lnTo>
                <a:lnTo>
                  <a:pt x="375" y="80"/>
                </a:lnTo>
                <a:lnTo>
                  <a:pt x="378" y="84"/>
                </a:lnTo>
                <a:lnTo>
                  <a:pt x="381" y="88"/>
                </a:lnTo>
                <a:lnTo>
                  <a:pt x="384" y="93"/>
                </a:lnTo>
                <a:lnTo>
                  <a:pt x="387" y="97"/>
                </a:lnTo>
                <a:lnTo>
                  <a:pt x="390" y="101"/>
                </a:lnTo>
                <a:lnTo>
                  <a:pt x="392" y="106"/>
                </a:lnTo>
                <a:lnTo>
                  <a:pt x="395" y="110"/>
                </a:lnTo>
                <a:lnTo>
                  <a:pt x="397" y="114"/>
                </a:lnTo>
                <a:lnTo>
                  <a:pt x="399" y="119"/>
                </a:lnTo>
                <a:lnTo>
                  <a:pt x="401" y="124"/>
                </a:lnTo>
                <a:lnTo>
                  <a:pt x="403" y="128"/>
                </a:lnTo>
                <a:lnTo>
                  <a:pt x="405" y="133"/>
                </a:lnTo>
                <a:lnTo>
                  <a:pt x="407" y="138"/>
                </a:lnTo>
                <a:lnTo>
                  <a:pt x="409" y="143"/>
                </a:lnTo>
                <a:lnTo>
                  <a:pt x="411" y="148"/>
                </a:lnTo>
                <a:lnTo>
                  <a:pt x="412" y="153"/>
                </a:lnTo>
                <a:lnTo>
                  <a:pt x="413" y="158"/>
                </a:lnTo>
                <a:lnTo>
                  <a:pt x="415" y="163"/>
                </a:lnTo>
                <a:lnTo>
                  <a:pt x="416" y="168"/>
                </a:lnTo>
                <a:lnTo>
                  <a:pt x="417" y="173"/>
                </a:lnTo>
                <a:lnTo>
                  <a:pt x="418" y="178"/>
                </a:lnTo>
                <a:lnTo>
                  <a:pt x="418" y="183"/>
                </a:lnTo>
                <a:lnTo>
                  <a:pt x="419" y="189"/>
                </a:lnTo>
                <a:lnTo>
                  <a:pt x="419" y="194"/>
                </a:lnTo>
                <a:lnTo>
                  <a:pt x="420" y="199"/>
                </a:lnTo>
                <a:lnTo>
                  <a:pt x="420" y="205"/>
                </a:lnTo>
                <a:lnTo>
                  <a:pt x="420" y="210"/>
                </a:lnTo>
                <a:lnTo>
                  <a:pt x="420" y="215"/>
                </a:lnTo>
                <a:lnTo>
                  <a:pt x="420" y="221"/>
                </a:lnTo>
                <a:lnTo>
                  <a:pt x="419" y="226"/>
                </a:lnTo>
                <a:lnTo>
                  <a:pt x="419" y="231"/>
                </a:lnTo>
                <a:lnTo>
                  <a:pt x="418" y="237"/>
                </a:lnTo>
                <a:lnTo>
                  <a:pt x="418" y="240"/>
                </a:lnTo>
                <a:lnTo>
                  <a:pt x="2" y="240"/>
                </a:lnTo>
                <a:lnTo>
                  <a:pt x="2" y="237"/>
                </a:lnTo>
                <a:lnTo>
                  <a:pt x="1" y="231"/>
                </a:lnTo>
                <a:lnTo>
                  <a:pt x="1" y="226"/>
                </a:lnTo>
                <a:lnTo>
                  <a:pt x="0" y="221"/>
                </a:lnTo>
                <a:lnTo>
                  <a:pt x="0" y="215"/>
                </a:lnTo>
                <a:lnTo>
                  <a:pt x="0" y="210"/>
                </a:lnTo>
                <a:lnTo>
                  <a:pt x="0" y="205"/>
                </a:lnTo>
                <a:lnTo>
                  <a:pt x="0" y="199"/>
                </a:lnTo>
                <a:lnTo>
                  <a:pt x="1" y="194"/>
                </a:lnTo>
                <a:lnTo>
                  <a:pt x="1" y="189"/>
                </a:lnTo>
                <a:lnTo>
                  <a:pt x="2" y="183"/>
                </a:lnTo>
                <a:lnTo>
                  <a:pt x="2" y="178"/>
                </a:lnTo>
                <a:lnTo>
                  <a:pt x="3" y="173"/>
                </a:lnTo>
                <a:lnTo>
                  <a:pt x="4" y="168"/>
                </a:lnTo>
                <a:lnTo>
                  <a:pt x="5" y="163"/>
                </a:lnTo>
                <a:lnTo>
                  <a:pt x="7" y="158"/>
                </a:lnTo>
                <a:lnTo>
                  <a:pt x="8" y="153"/>
                </a:lnTo>
                <a:lnTo>
                  <a:pt x="9" y="148"/>
                </a:lnTo>
                <a:lnTo>
                  <a:pt x="11" y="143"/>
                </a:lnTo>
                <a:lnTo>
                  <a:pt x="13" y="138"/>
                </a:lnTo>
                <a:lnTo>
                  <a:pt x="15" y="133"/>
                </a:lnTo>
                <a:lnTo>
                  <a:pt x="17" y="128"/>
                </a:lnTo>
                <a:lnTo>
                  <a:pt x="19" y="124"/>
                </a:lnTo>
                <a:lnTo>
                  <a:pt x="21" y="119"/>
                </a:lnTo>
                <a:lnTo>
                  <a:pt x="23" y="114"/>
                </a:lnTo>
                <a:lnTo>
                  <a:pt x="25" y="110"/>
                </a:lnTo>
                <a:lnTo>
                  <a:pt x="28" y="106"/>
                </a:lnTo>
                <a:lnTo>
                  <a:pt x="30" y="101"/>
                </a:lnTo>
                <a:lnTo>
                  <a:pt x="33" y="97"/>
                </a:lnTo>
                <a:lnTo>
                  <a:pt x="36" y="93"/>
                </a:lnTo>
                <a:lnTo>
                  <a:pt x="39" y="88"/>
                </a:lnTo>
                <a:lnTo>
                  <a:pt x="42" y="84"/>
                </a:lnTo>
                <a:lnTo>
                  <a:pt x="45" y="80"/>
                </a:lnTo>
                <a:lnTo>
                  <a:pt x="48" y="76"/>
                </a:lnTo>
                <a:lnTo>
                  <a:pt x="51" y="73"/>
                </a:lnTo>
                <a:lnTo>
                  <a:pt x="55" y="69"/>
                </a:lnTo>
                <a:lnTo>
                  <a:pt x="58" y="65"/>
                </a:lnTo>
                <a:lnTo>
                  <a:pt x="62" y="62"/>
                </a:lnTo>
                <a:lnTo>
                  <a:pt x="65" y="58"/>
                </a:lnTo>
                <a:lnTo>
                  <a:pt x="69" y="55"/>
                </a:lnTo>
                <a:lnTo>
                  <a:pt x="73" y="51"/>
                </a:lnTo>
                <a:lnTo>
                  <a:pt x="76" y="48"/>
                </a:lnTo>
                <a:lnTo>
                  <a:pt x="80" y="45"/>
                </a:lnTo>
                <a:lnTo>
                  <a:pt x="84" y="42"/>
                </a:lnTo>
                <a:lnTo>
                  <a:pt x="88" y="39"/>
                </a:lnTo>
                <a:lnTo>
                  <a:pt x="93" y="36"/>
                </a:lnTo>
                <a:lnTo>
                  <a:pt x="97" y="33"/>
                </a:lnTo>
                <a:lnTo>
                  <a:pt x="101" y="30"/>
                </a:lnTo>
                <a:lnTo>
                  <a:pt x="106" y="28"/>
                </a:lnTo>
                <a:lnTo>
                  <a:pt x="110" y="25"/>
                </a:lnTo>
                <a:lnTo>
                  <a:pt x="114" y="23"/>
                </a:lnTo>
                <a:lnTo>
                  <a:pt x="119" y="21"/>
                </a:lnTo>
                <a:lnTo>
                  <a:pt x="124" y="19"/>
                </a:lnTo>
                <a:lnTo>
                  <a:pt x="128" y="17"/>
                </a:lnTo>
                <a:lnTo>
                  <a:pt x="133" y="15"/>
                </a:lnTo>
                <a:lnTo>
                  <a:pt x="138" y="13"/>
                </a:lnTo>
                <a:lnTo>
                  <a:pt x="143" y="11"/>
                </a:lnTo>
                <a:lnTo>
                  <a:pt x="148" y="9"/>
                </a:lnTo>
                <a:lnTo>
                  <a:pt x="153" y="8"/>
                </a:lnTo>
                <a:lnTo>
                  <a:pt x="158" y="7"/>
                </a:lnTo>
                <a:lnTo>
                  <a:pt x="163" y="5"/>
                </a:lnTo>
                <a:lnTo>
                  <a:pt x="168" y="4"/>
                </a:lnTo>
                <a:lnTo>
                  <a:pt x="173" y="3"/>
                </a:lnTo>
                <a:lnTo>
                  <a:pt x="178" y="2"/>
                </a:lnTo>
                <a:lnTo>
                  <a:pt x="183" y="2"/>
                </a:lnTo>
                <a:lnTo>
                  <a:pt x="189" y="1"/>
                </a:lnTo>
                <a:lnTo>
                  <a:pt x="194" y="1"/>
                </a:lnTo>
                <a:lnTo>
                  <a:pt x="199" y="0"/>
                </a:lnTo>
                <a:lnTo>
                  <a:pt x="205" y="0"/>
                </a:lnTo>
                <a:lnTo>
                  <a:pt x="210" y="0"/>
                </a:lnTo>
                <a:close/>
              </a:path>
            </a:pathLst>
          </a:cu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762000" y="628650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C9BC4"/>
                </a:solidFill>
                <a:latin typeface="Microsoft YaHei"/>
                <a:ea typeface="Microsoft YaHei"/>
              </a:rPr>
              <a:t>单包交付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1524000" y="6286500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C9BC4"/>
                </a:solidFill>
                <a:latin typeface="Microsoft YaHei"/>
                <a:ea typeface="Microsoft YaHei"/>
              </a:rPr>
              <a:t>零依赖启动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2409825" y="6286500"/>
            <a:ext cx="866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C9BC4"/>
                </a:solidFill>
                <a:latin typeface="Microsoft YaHei"/>
                <a:ea typeface="Microsoft YaHei"/>
              </a:rPr>
              <a:t>全链路数据打通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762000" y="12477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FFFFFF">
              <a:alpha val="18000"/>
            </a:srgbClr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1295400" y="1362075"/>
            <a:ext cx="1390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225">
                <a:solidFill>
                  <a:srgbClr val="DCE6FF"/>
                </a:solidFill>
                <a:latin typeface="Microsoft YaHei"/>
                <a:ea typeface="Microsoft YaHei"/>
              </a:rPr>
              <a:t>EXAM SYSTEM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762000" y="2047875"/>
            <a:ext cx="10668000" cy="8953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5100" b="1" spc="150">
                <a:solidFill>
                  <a:srgbClr val="FFFFFF"/>
                </a:solidFill>
                <a:latin typeface="Microsoft YaHei"/>
                <a:ea typeface="Microsoft YaHei"/>
              </a:rPr>
              <a:t>考试系统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762000" y="3114675"/>
            <a:ext cx="10668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spc="75">
                <a:solidFill>
                  <a:srgbClr val="C9D6F5"/>
                </a:solidFill>
                <a:latin typeface="Microsoft YaHei"/>
                <a:ea typeface="Microsoft YaHei"/>
              </a:rPr>
              <a:t>一体化在线考试平台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762000" y="3781425"/>
            <a:ext cx="914400" cy="38100"/>
          </a:xfrm>
          <a:prstGeom prst="rect">
            <a:avLst/>
          </a:prstGeom>
          <a:solidFill>
            <a:srgbClr val="4F7BE8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762000" y="4105275"/>
            <a:ext cx="10668000" cy="7429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350">
                <a:solidFill>
                  <a:srgbClr val="B6C4E6"/>
                </a:solidFill>
                <a:latin typeface="Microsoft YaHei"/>
                <a:ea typeface="Microsoft YaHei"/>
              </a:rPr>
              <a:t>从命题到成绩，一条链路跑完</a:t>
            </a:r>
            <a:endParaRPr/>
          </a:p>
          <a:p>
            <a:pPr>
              <a:lnSpc>
                <a:spcPct val="180000"/>
              </a:lnSpc>
            </a:pPr>
            <a:r>
              <a:rPr lang="zh-CN" sz="1350">
                <a:solidFill>
                  <a:srgbClr val="B6C4E6"/>
                </a:solidFill>
                <a:latin typeface="Microsoft YaHei"/>
                <a:ea typeface="Microsoft YaHei"/>
              </a:rPr>
              <a:t>大纲</a:t>
            </a:r>
            <a:r>
              <a:rPr lang="en-US" sz="1350">
                <a:solidFill>
                  <a:srgbClr val="B6C4E6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B6C4E6"/>
                </a:solidFill>
                <a:latin typeface="Microsoft YaHei"/>
                <a:ea typeface="Microsoft YaHei"/>
              </a:rPr>
              <a:t>题库</a:t>
            </a:r>
            <a:r>
              <a:rPr lang="en-US" sz="1350">
                <a:solidFill>
                  <a:srgbClr val="B6C4E6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B6C4E6"/>
                </a:solidFill>
                <a:latin typeface="Microsoft YaHei"/>
                <a:ea typeface="Microsoft YaHei"/>
              </a:rPr>
              <a:t>组卷</a:t>
            </a:r>
            <a:r>
              <a:rPr lang="en-US" sz="1350">
                <a:solidFill>
                  <a:srgbClr val="B6C4E6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B6C4E6"/>
                </a:solidFill>
                <a:latin typeface="Microsoft YaHei"/>
                <a:ea typeface="Microsoft YaHei"/>
              </a:rPr>
              <a:t>考试</a:t>
            </a:r>
            <a:r>
              <a:rPr lang="en-US" sz="1350">
                <a:solidFill>
                  <a:srgbClr val="B6C4E6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B6C4E6"/>
                </a:solidFill>
                <a:latin typeface="Microsoft YaHei"/>
                <a:ea typeface="Microsoft YaHei"/>
              </a:rPr>
              <a:t>监考</a:t>
            </a:r>
            <a:r>
              <a:rPr lang="en-US" sz="1350">
                <a:solidFill>
                  <a:srgbClr val="B6C4E6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B6C4E6"/>
                </a:solidFill>
                <a:latin typeface="Microsoft YaHei"/>
                <a:ea typeface="Microsoft YaHei"/>
              </a:rPr>
              <a:t>阅卷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762000" y="5457825"/>
            <a:ext cx="1066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8C9BC4"/>
                </a:solidFill>
                <a:latin typeface="Microsoft YaHei"/>
                <a:ea typeface="Microsoft YaHei"/>
              </a:rPr>
              <a:t>产品演示材料　</a:t>
            </a:r>
            <a:r>
              <a:rPr lang="en-US" sz="1050" spc="75">
                <a:solidFill>
                  <a:srgbClr val="8C9BC4"/>
                </a:solidFill>
                <a:latin typeface="Microsoft YaHei"/>
                <a:ea typeface="Microsoft YaHei"/>
              </a:rPr>
              <a:t>|</a:t>
            </a:r>
            <a:r>
              <a:rPr lang="zh-CN" sz="1050" spc="75">
                <a:solidFill>
                  <a:srgbClr val="8C9BC4"/>
                </a:solidFill>
                <a:latin typeface="Microsoft YaHei"/>
                <a:ea typeface="Microsoft YaHei"/>
              </a:rPr>
              <a:t>　</a:t>
            </a:r>
            <a:r>
              <a:rPr lang="en-US" sz="1050" spc="75">
                <a:solidFill>
                  <a:srgbClr val="8C9BC4"/>
                </a:solidFill>
                <a:latin typeface="Microsoft YaHei"/>
                <a:ea typeface="Microsoft YaHei"/>
              </a:rPr>
              <a:t>2026 </a:t>
            </a:r>
            <a:r>
              <a:rPr lang="zh-CN" sz="1050" spc="75">
                <a:solidFill>
                  <a:srgbClr val="8C9BC4"/>
                </a:solidFill>
                <a:latin typeface="Microsoft YaHei"/>
                <a:ea typeface="Microsoft YaHei"/>
              </a:rPr>
              <a:t>年</a:t>
            </a:r>
            <a:r>
              <a:rPr lang="en-US" sz="1050" spc="75">
                <a:solidFill>
                  <a:srgbClr val="8C9BC4"/>
                </a:solidFill>
                <a:latin typeface="Microsoft YaHei"/>
                <a:ea typeface="Microsoft YaHei"/>
              </a:rPr>
              <a:t> 10 </a:t>
            </a:r>
            <a:r>
              <a:rPr lang="zh-CN" sz="1050" spc="75">
                <a:solidFill>
                  <a:srgbClr val="8C9BC4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88" name="" descr="&lt;Slide style={{ width: 1280, height: 720, background: '#FFFFFF', padding: 64, position: 'relative' }}&gt;&#10;  &lt;Box style={{ flexDirection: 'column' }}&gt;&#10;    &lt;Text style={{ fontSize: 13, color: '#4F7BE8', letterSpacing: 4, fontWeight: 'bold' }}&gt;THE PROBLEM&lt;/Text&gt;&#10;    &lt;Text style={{ fontSize: 38, fontWeight: 'bold', color: '#1B2A5B', marginTop: 10 }}&gt;一场考试，断在四个地方&lt;/Text&gt;&#10;    &lt;Text style={{ fontSize: 15, color: '#4A5262', marginTop: 8 }}&gt;工具各管一段，数据对不上，责任也说不清。&lt;/Text&gt;&#10;&#10;    &lt;Box style={{ flexDirection: 'row', flexWrap: 'wrap', gap: 18, marginTop: 28 }}&gt;&#10;      &lt;Box style={{ width: 564, height: 200, background: '#F4F6FB', borderRadius: 12, padding: 24, flexDirection: 'row', gap: 20, alignItems: 'center' }}&gt;&#10;        &lt;Text style={{ fontSize: 48, fontWeight: 'bold', color: '#2F4FA0', fontFamily: 'Arial', width: 70 }}&gt;01&lt;/Text&gt;&#10;        &lt;Box style={{ width: 426, flexDirection: 'column' }}&gt;&#10;          &lt;Text style={{ fontSize: 19, fontWeight: 'bold', color: '#1B2A5B' }}&gt;命题分散在各人手里&lt;/Text&gt;&#10;          &lt;Text style={{ fontSize: 14, color: '#4A5262', lineHeight: 1.6, marginTop: 8 }}&gt;题目散落在文档和聊天记录里，重复出题、难度失衡没人管。&lt;/Text&gt;&#10;        &lt;/Box&gt;&#10;      &lt;/Box&gt;&#10;&#10;      &lt;Box style={{ width: 564, height: 200, background: '#F4F6FB', borderRadius: 12, padding: 24, flexDirection: 'row', gap: 20, alignItems: 'center' }}&gt;&#10;        &lt;Text style={{ fontSize: 48, fontWeight: 'bold', color: '#2F4FA0', fontFamily: 'Arial', width: 70 }}&gt;02&lt;/Text&gt;&#10;        &lt;Box style={{ width: 426, flexDirection: 'column' }}&gt;&#10;          &lt;Text style={{ fontSize: 19, fontWeight: 'bold', color: '#1B2A5B' }}&gt;监考只能靠人盯&lt;/Text&gt;&#10;          &lt;Text style={{ fontSize: 14, color: '#4A5262', lineHeight: 1.6, marginTop: 8 }}&gt;几十人同时开考，谁卡住、谁掉线，全凭监考老师经验判断。&lt;/Text&gt;&#10;        &lt;/Box&gt;&#10;      &lt;/Box&gt;&#10;&#10;      &lt;Box style={{ width: 564, height: 200, background: '#F4F6FB', borderRadius: 12, padding: 24, flexDirection: 'row', gap: 20, alignItems: 'center' }}&gt;&#10;        &lt;Text style={{ fontSize: 48, fontWeight: 'bold', color: '#2F4FA0', fontFamily: 'Arial', width: 70 }}&gt;03&lt;/Text&gt;&#10;        &lt;Box style={{ width: 426, flexDirection: 'column' }}&gt;&#10;          &lt;Text style={{ fontSize: 19, fontWeight: 'bold', color: '#1B2A5B' }}&gt;阅卷与统分靠手工&lt;/Text&gt;&#10;          &lt;Text style={{ fontSize: 14, color: '#4A5262', lineHeight: 1.6, marginTop: 8 }}&gt;客观题对答案、主观题翻卷子，算错一处整张表都要重来。&lt;/Text&gt;&#10;        &lt;/Box&gt;&#10;      &lt;/Box&gt;&#10;&#10;      &lt;Box style={{ width: 564, height: 200, background: '#F4F6FB', borderRadius: 12, padding: 24, flexDirection: 'row', gap: 20, alignItems: 'center' }}&gt;&#10;        &lt;Text style={{ fontSize: 48, fontWeight: 'bold', color: '#2F4FA0', fontFamily: 'Arial', width: 70 }}&gt;04&lt;/Text&gt;&#10;        &lt;Box style={{ width: 426, flexDirection: 'column' }}&gt;&#10;          &lt;Text style={{ fontSize: 19, fontWeight: 'bold', color: '#1B2A5B' }}&gt;考完仍不知教什么&lt;/Text&gt;&#10;          &lt;Text style={{ fontSize: 14, color: '#4A5262', lineHeight: 1.6, marginTop: 8 }}&gt;只有一张成绩单，看不出哪道题全员失分，培训内容无从调整。&lt;/Text&gt;&#10;        &lt;/Box&gt;&#10;      &lt;/Box&gt;&#10;    &lt;/Box&gt;&#10;  &lt;/Box&gt;&#10;&#10;  &lt;Box style={{ position: 'absolute', right: 64, bottom: 24 }}&gt;&#10;    &lt;Text style={{ fontSize: 13, color: '#98A2B3' }}&gt;02 / 1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609600" y="609600"/>
            <a:ext cx="10972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300">
                <a:solidFill>
                  <a:srgbClr val="4F7BE8"/>
                </a:solidFill>
                <a:latin typeface="Microsoft YaHei"/>
                <a:ea typeface="Microsoft YaHei"/>
              </a:rPr>
              <a:t>THE PROBLEM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609600" y="857250"/>
            <a:ext cx="109728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>
                <a:solidFill>
                  <a:srgbClr val="1B2A5B"/>
                </a:solidFill>
                <a:latin typeface="Microsoft YaHei"/>
                <a:ea typeface="Microsoft YaHei"/>
              </a:rPr>
              <a:t>一场考试，断在四个地方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609600" y="13716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262"/>
                </a:solidFill>
                <a:latin typeface="Microsoft YaHei"/>
                <a:ea typeface="Microsoft YaHei"/>
              </a:rPr>
              <a:t>工具各管一段，数据对不上，责任也说不清。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609600" y="1809750"/>
            <a:ext cx="5372100" cy="19050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838200" y="2486025"/>
            <a:ext cx="66675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2F4FA0"/>
                </a:solidFill>
                <a:latin typeface="Arial"/>
                <a:ea typeface="Arial"/>
              </a:rPr>
              <a:t>01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1695450" y="2486025"/>
            <a:ext cx="40576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B2A5B"/>
                </a:solidFill>
                <a:latin typeface="Microsoft YaHei"/>
                <a:ea typeface="Microsoft YaHei"/>
              </a:rPr>
              <a:t>命题分散在各人手里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1695450" y="2781300"/>
            <a:ext cx="40576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4A5262"/>
                </a:solidFill>
                <a:latin typeface="Microsoft YaHei"/>
                <a:ea typeface="Microsoft YaHei"/>
              </a:rPr>
              <a:t>题目散落在文档和聊天记录里，重复出题、难度失衡没人管。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6153150" y="1809750"/>
            <a:ext cx="5372100" cy="19050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6381750" y="2486025"/>
            <a:ext cx="66675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2F4FA0"/>
                </a:solidFill>
                <a:latin typeface="Arial"/>
                <a:ea typeface="Arial"/>
              </a:rPr>
              <a:t>02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7239000" y="2486025"/>
            <a:ext cx="40576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B2A5B"/>
                </a:solidFill>
                <a:latin typeface="Microsoft YaHei"/>
                <a:ea typeface="Microsoft YaHei"/>
              </a:rPr>
              <a:t>监考只能靠人盯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7239000" y="2781300"/>
            <a:ext cx="40576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4A5262"/>
                </a:solidFill>
                <a:latin typeface="Microsoft YaHei"/>
                <a:ea typeface="Microsoft YaHei"/>
              </a:rPr>
              <a:t>几十人同时开考，谁卡住、谁掉线，全凭监考老师经验判断。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609600" y="3886200"/>
            <a:ext cx="5372100" cy="19050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838200" y="4562475"/>
            <a:ext cx="66675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2F4FA0"/>
                </a:solidFill>
                <a:latin typeface="Arial"/>
                <a:ea typeface="Arial"/>
              </a:rPr>
              <a:t>03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1695450" y="4562475"/>
            <a:ext cx="40576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B2A5B"/>
                </a:solidFill>
                <a:latin typeface="Microsoft YaHei"/>
                <a:ea typeface="Microsoft YaHei"/>
              </a:rPr>
              <a:t>阅卷与统分靠手工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1695450" y="4857750"/>
            <a:ext cx="40576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4A5262"/>
                </a:solidFill>
                <a:latin typeface="Microsoft YaHei"/>
                <a:ea typeface="Microsoft YaHei"/>
              </a:rPr>
              <a:t>客观题对答案、主观题翻卷子，算错一处整张表都要重来。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6153150" y="3886200"/>
            <a:ext cx="5372100" cy="19050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6381750" y="4562475"/>
            <a:ext cx="66675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2F4FA0"/>
                </a:solidFill>
                <a:latin typeface="Arial"/>
                <a:ea typeface="Arial"/>
              </a:rPr>
              <a:t>04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7239000" y="4562475"/>
            <a:ext cx="40576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B2A5B"/>
                </a:solidFill>
                <a:latin typeface="Microsoft YaHei"/>
                <a:ea typeface="Microsoft YaHei"/>
              </a:rPr>
              <a:t>考完仍不知教什么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7239000" y="4857750"/>
            <a:ext cx="40576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4A5262"/>
                </a:solidFill>
                <a:latin typeface="Microsoft YaHei"/>
                <a:ea typeface="Microsoft YaHei"/>
              </a:rPr>
              <a:t>只有一张成绩单，看不出哪道题全员失分，培训内容无从调整。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11163300" y="64770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8A2B3"/>
                </a:solidFill>
                <a:latin typeface="Microsoft YaHei"/>
                <a:ea typeface="Microsoft YaHei"/>
              </a:rPr>
              <a:t>02 / 12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10" name="" descr="&lt;Slide style={{ width: 1280, height: 720, background: '#FFFFFF', padding: 64, position: 'relative' }}&gt;&#10;  &lt;Box style={{ flexDirection: 'column' }}&gt;&#10;    &lt;Text style={{ fontSize: 13, color: '#4F7BE8', letterSpacing: 4, fontWeight: 'bold' }}&gt;THE ANSWER&lt;/Text&gt;&#10;    &lt;Text style={{ fontSize: 40, fontWeight: 'bold', color: '#1B2A5B', marginTop: 10 }}&gt;一条链路跑完，数据不用搬&lt;/Text&gt;&#10;    &lt;Text style={{ fontSize: 16, color: '#4A5262', marginTop: 10 }}&gt;八个环节共用一套数据：题目在哪、谁考的、得了多少分，前后能互相反查。&lt;/Text&gt;&#10;&#10;    &lt;Box style={{ flexDirection: 'row', alignItems: 'center', marginTop: 40 }}&gt;&#10;      &lt;Box style={{ width: 118, height: 118, background: '#2F4FA0', borderRadius: 10, padding: 14, flexDirection: 'column', justifyContent: 'space-between' }}&gt;&#10;        &lt;Text style={{ fontSize: 12, color: '#C9D6F5', fontFamily: 'Arial' }}&gt;STEP 1&lt;/Text&gt;&#10;        &lt;Text style={{ fontSize: 17, fontWeight: 'bold', color: '#FFFFFF', lineHeight: 1.35 }}&gt;大纲&lt;/Text&gt;&#10;      &lt;/Box&gt;&#10;      &lt;Text style={{ width: 18, textAlign: 'center', fontSize: 20, color: '#B7C2DA' }}&gt;›&lt;/Text&gt;&#10;      &lt;Box style={{ width: 118, height: 118, background: '#F4F6FB', borderRadius: 10, padding: 14, flexDirection: 'column', justifyContent: 'space-between' }}&gt;&#10;        &lt;Text style={{ fontSize: 12, color: '#98A2B3', fontFamily: 'Arial' }}&gt;STEP 2&lt;/Text&gt;&#10;        &lt;Text style={{ fontSize: 17, fontWeight: 'bold', color: '#1B2A5B', lineHeight: 1.35 }}&gt;题库&lt;/Text&gt;&#10;      &lt;/Box&gt;&#10;      &lt;Text style={{ width: 18, textAlign: 'center', fontSize: 20, color: '#B7C2DA' }}&gt;›&lt;/Text&gt;&#10;      &lt;Box style={{ width: 118, height: 118, background: '#F4F6FB', borderRadius: 10, padding: 14, flexDirection: 'column', justifyContent: 'space-between' }}&gt;&#10;        &lt;Text style={{ fontSize: 12, color: '#98A2B3', fontFamily: 'Arial' }}&gt;STEP 3&lt;/Text&gt;&#10;        &lt;Text style={{ fontSize: 17, fontWeight: 'bold', color: '#1B2A5B', lineHeight: 1.35 }}&gt;组卷&lt;/Text&gt;&#10;      &lt;/Box&gt;&#10;      &lt;Text style={{ width: 18, textAlign: 'center', fontSize: 20, color: '#B7C2DA' }}&gt;›&lt;/Text&gt;&#10;      &lt;Box style={{ width: 118, height: 118, background: '#F4F6FB', borderRadius: 10, padding: 14, flexDirection: 'column', justifyContent: 'space-between' }}&gt;&#10;        &lt;Text style={{ fontSize: 12, color: '#98A2B3', fontFamily: 'Arial' }}&gt;STEP 4&lt;/Text&gt;&#10;        &lt;Text style={{ fontSize: 17, fontWeight: 'bold', color: '#1B2A5B', lineHeight: 1.35 }}&gt;考试计划&lt;/Text&gt;&#10;      &lt;/Box&gt;&#10;      &lt;Text style={{ width: 18, textAlign: 'center', fontSize: 20, color: '#B7C2DA' }}&gt;›&lt;/Text&gt;&#10;      &lt;Box style={{ width: 118, height: 118, background: '#F4F6FB', borderRadius: 10, padding: 14, flexDirection: 'column', justifyContent: 'space-between' }}&gt;&#10;        &lt;Text style={{ fontSize: 12, color: '#98A2B3', fontFamily: 'Arial' }}&gt;STEP 5&lt;/Text&gt;&#10;        &lt;Text style={{ fontSize: 17, fontWeight: 'bold', color: '#1B2A5B', lineHeight: 1.35 }}&gt;报名&lt;/Text&gt;&#10;      &lt;/Box&gt;&#10;      &lt;Text style={{ width: 18, textAlign: 'center', fontSize: 20, color: '#B7C2DA' }}&gt;›&lt;/Text&gt;&#10;      &lt;Box style={{ width: 118, height: 118, background: '#F4F6FB', borderRadius: 10, padding: 14, flexDirection: 'column', justifyContent: 'space-between' }}&gt;&#10;        &lt;Text style={{ fontSize: 12, color: '#98A2B3', fontFamily: 'Arial' }}&gt;STEP 6&lt;/Text&gt;&#10;        &lt;Text style={{ fontSize: 17, fontWeight: 'bold', color: '#1B2A5B', lineHeight: 1.35 }}&gt;在线考试&lt;/Text&gt;&#10;      &lt;/Box&gt;&#10;      &lt;Text style={{ width: 18, textAlign: 'center', fontSize: 20, color: '#B7C2DA' }}&gt;›&lt;/Text&gt;&#10;      &lt;Box style={{ width: 118, height: 118, background: '#F4F6FB', borderRadius: 10, padding: 14, flexDirection: 'column', justifyContent: 'space-between' }}&gt;&#10;        &lt;Text style={{ fontSize: 12, color: '#98A2B3', fontFamily: 'Arial' }}&gt;STEP 7&lt;/Text&gt;&#10;        &lt;Text style={{ fontSize: 17, fontWeight: 'bold', color: '#1B2A5B', lineHeight: 1.35 }}&gt;监考阅卷&lt;/Text&gt;&#10;      &lt;/Box&gt;&#10;      &lt;Text style={{ width: 18, textAlign: 'center', fontSize: 20, color: '#B7C2DA' }}&gt;›&lt;/Text&gt;&#10;      &lt;Box style={{ width: 118, height: 118, background: '#2F4FA0', borderRadius: 10, padding: 14, flexDirection: 'column', justifyContent: 'space-between' }}&gt;&#10;        &lt;Text style={{ fontSize: 12, color: '#C9D6F5', fontFamily: 'Arial' }}&gt;STEP 8&lt;/Text&gt;&#10;        &lt;Text style={{ fontSize: 17, fontWeight: 'bold', color: '#FFFFFF', lineHeight: 1.35 }}&gt;成绩分析&lt;/Text&gt;&#10;      &lt;/Box&gt;&#10;    &lt;/Box&gt;&#10;&#10;    &lt;Box style={{ flexDirection: 'row', gap: 20, marginTop: 44 }}&gt;&#10;      &lt;Box style={{ width: 371, background: '#F4F6FB', borderLeft: '4px solid #4F7BE8', borderRadius: 8, padding: 20 }}&gt;&#10;        &lt;Text style={{ fontSize: 17, fontWeight: 'bold', color: '#1B2A5B', marginBottom: 6 }}&gt;每一环可反查&lt;/Text&gt;&#10;        &lt;Text style={{ fontSize: 14, color: '#4A5262', lineHeight: 1.6 }}&gt;从一份成绩能追到答卷、试卷、题目与大纲。&lt;/Text&gt;&#10;      &lt;/Box&gt;&#10;      &lt;Box style={{ width: 371, background: '#F4F6FB', borderLeft: '4px solid #4F7BE8', borderRadius: 8, padding: 20 }}&gt;&#10;        &lt;Text style={{ fontSize: 17, fontWeight: 'bold', color: '#1B2A5B', marginBottom: 6 }}&gt;规则写进系统&lt;/Text&gt;&#10;        &lt;Text style={{ fontSize: 14, color: '#4A5262', lineHeight: 1.6 }}&gt;计时、交卷、成绩发布都由服务端裁决，不靠自觉。&lt;/Text&gt;&#10;      &lt;/Box&gt;&#10;      &lt;Box style={{ width: 371, background: '#F4F6FB', borderLeft: '4px solid #4F7BE8', borderRadius: 8, padding: 20 }}&gt;&#10;        &lt;Text style={{ fontSize: 17, fontWeight: 'bold', color: '#1B2A5B', marginBottom: 6 }}&gt;一次录入多处复用&lt;/Text&gt;&#10;        &lt;Text style={{ fontSize: 14, color: '#4A5262', lineHeight: 1.6 }}&gt;题目录一次，练习、考试、分析共用同一份数据。&lt;/Text&gt;&#10;      &lt;/Box&gt;&#10;    &lt;/Box&gt;&#10;  &lt;/Box&gt;&#10;&#10;  &lt;Box style={{ position: 'absolute', right: 64, bottom: 24 }}&gt;&#10;    &lt;Text style={{ fontSize: 13, color: '#98A2B3' }}&gt;03 / 1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609600" y="609600"/>
            <a:ext cx="10972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300">
                <a:solidFill>
                  <a:srgbClr val="4F7BE8"/>
                </a:solidFill>
                <a:latin typeface="Microsoft YaHei"/>
                <a:ea typeface="Microsoft YaHei"/>
              </a:rPr>
              <a:t>THE ANSWER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609600" y="857250"/>
            <a:ext cx="109728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1B2A5B"/>
                </a:solidFill>
                <a:latin typeface="Microsoft YaHei"/>
                <a:ea typeface="Microsoft YaHei"/>
              </a:rPr>
              <a:t>一条链路跑完，数据不用搬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609600" y="1409700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262"/>
                </a:solidFill>
                <a:latin typeface="Microsoft YaHei"/>
                <a:ea typeface="Microsoft YaHei"/>
              </a:rPr>
              <a:t>八个环节共用一套数据：题目在哪、谁考的、得了多少分，前后能互相反查。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609600" y="1981200"/>
            <a:ext cx="1123950" cy="1123950"/>
          </a:xfrm>
          <a:prstGeom prst="roundRect">
            <a:avLst>
              <a:gd name="adj" fmla="val 8475"/>
            </a:avLst>
          </a:prstGeom>
          <a:solidFill>
            <a:srgbClr val="2F4FA0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742950" y="2114550"/>
            <a:ext cx="857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C9D6F5"/>
                </a:solidFill>
                <a:latin typeface="Arial"/>
                <a:ea typeface="Arial"/>
              </a:rPr>
              <a:t>STEP 1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742950" y="2705100"/>
            <a:ext cx="857250" cy="2667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大纲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1733550" y="2428875"/>
            <a:ext cx="17145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B7C2DA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1905000" y="1981200"/>
            <a:ext cx="1123950" cy="1123950"/>
          </a:xfrm>
          <a:prstGeom prst="roundRect">
            <a:avLst>
              <a:gd name="adj" fmla="val 8475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2038350" y="2114550"/>
            <a:ext cx="857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8A2B3"/>
                </a:solidFill>
                <a:latin typeface="Arial"/>
                <a:ea typeface="Arial"/>
              </a:rPr>
              <a:t>STEP 2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2038350" y="2705100"/>
            <a:ext cx="857250" cy="2667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75" b="1">
                <a:solidFill>
                  <a:srgbClr val="1B2A5B"/>
                </a:solidFill>
                <a:latin typeface="Microsoft YaHei"/>
                <a:ea typeface="Microsoft YaHei"/>
              </a:rPr>
              <a:t>题库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3028950" y="2428875"/>
            <a:ext cx="17145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B7C2DA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3200400" y="1981200"/>
            <a:ext cx="1123950" cy="1123950"/>
          </a:xfrm>
          <a:prstGeom prst="roundRect">
            <a:avLst>
              <a:gd name="adj" fmla="val 8475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3333750" y="2114550"/>
            <a:ext cx="857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8A2B3"/>
                </a:solidFill>
                <a:latin typeface="Arial"/>
                <a:ea typeface="Arial"/>
              </a:rPr>
              <a:t>STEP 3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3333750" y="2705100"/>
            <a:ext cx="857250" cy="2667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75" b="1">
                <a:solidFill>
                  <a:srgbClr val="1B2A5B"/>
                </a:solidFill>
                <a:latin typeface="Microsoft YaHei"/>
                <a:ea typeface="Microsoft YaHei"/>
              </a:rPr>
              <a:t>组卷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4324350" y="2428875"/>
            <a:ext cx="17145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B7C2DA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4495800" y="1981200"/>
            <a:ext cx="1123950" cy="1123950"/>
          </a:xfrm>
          <a:prstGeom prst="roundRect">
            <a:avLst>
              <a:gd name="adj" fmla="val 8475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4629150" y="2114550"/>
            <a:ext cx="857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8A2B3"/>
                </a:solidFill>
                <a:latin typeface="Arial"/>
                <a:ea typeface="Arial"/>
              </a:rPr>
              <a:t>STEP 4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4629150" y="2705100"/>
            <a:ext cx="857250" cy="2667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75" b="1">
                <a:solidFill>
                  <a:srgbClr val="1B2A5B"/>
                </a:solidFill>
                <a:latin typeface="Microsoft YaHei"/>
                <a:ea typeface="Microsoft YaHei"/>
              </a:rPr>
              <a:t>考试计划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5619750" y="2428875"/>
            <a:ext cx="17145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B7C2DA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5791200" y="1981200"/>
            <a:ext cx="1123950" cy="1123950"/>
          </a:xfrm>
          <a:prstGeom prst="roundRect">
            <a:avLst>
              <a:gd name="adj" fmla="val 8475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5924550" y="2114550"/>
            <a:ext cx="857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8A2B3"/>
                </a:solidFill>
                <a:latin typeface="Arial"/>
                <a:ea typeface="Arial"/>
              </a:rPr>
              <a:t>STEP 5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5924550" y="2705100"/>
            <a:ext cx="857250" cy="2667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75" b="1">
                <a:solidFill>
                  <a:srgbClr val="1B2A5B"/>
                </a:solidFill>
                <a:latin typeface="Microsoft YaHei"/>
                <a:ea typeface="Microsoft YaHei"/>
              </a:rPr>
              <a:t>报名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6915150" y="2428875"/>
            <a:ext cx="17145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B7C2DA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7086600" y="1981200"/>
            <a:ext cx="1123950" cy="1123950"/>
          </a:xfrm>
          <a:prstGeom prst="roundRect">
            <a:avLst>
              <a:gd name="adj" fmla="val 8475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7219950" y="2114550"/>
            <a:ext cx="857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8A2B3"/>
                </a:solidFill>
                <a:latin typeface="Arial"/>
                <a:ea typeface="Arial"/>
              </a:rPr>
              <a:t>STEP 6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7219950" y="2705100"/>
            <a:ext cx="857250" cy="2667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75" b="1">
                <a:solidFill>
                  <a:srgbClr val="1B2A5B"/>
                </a:solidFill>
                <a:latin typeface="Microsoft YaHei"/>
                <a:ea typeface="Microsoft YaHei"/>
              </a:rPr>
              <a:t>在线考试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8210550" y="2428875"/>
            <a:ext cx="17145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B7C2DA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8382000" y="1981200"/>
            <a:ext cx="1123950" cy="1123950"/>
          </a:xfrm>
          <a:prstGeom prst="roundRect">
            <a:avLst>
              <a:gd name="adj" fmla="val 8475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8515350" y="2114550"/>
            <a:ext cx="857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8A2B3"/>
                </a:solidFill>
                <a:latin typeface="Arial"/>
                <a:ea typeface="Arial"/>
              </a:rPr>
              <a:t>STEP 7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8515350" y="2705100"/>
            <a:ext cx="857250" cy="2667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75" b="1">
                <a:solidFill>
                  <a:srgbClr val="1B2A5B"/>
                </a:solidFill>
                <a:latin typeface="Microsoft YaHei"/>
                <a:ea typeface="Microsoft YaHei"/>
              </a:rPr>
              <a:t>监考阅卷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9505950" y="2428875"/>
            <a:ext cx="17145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B7C2DA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9677400" y="1981200"/>
            <a:ext cx="1123950" cy="1123950"/>
          </a:xfrm>
          <a:prstGeom prst="roundRect">
            <a:avLst>
              <a:gd name="adj" fmla="val 8475"/>
            </a:avLst>
          </a:prstGeom>
          <a:solidFill>
            <a:srgbClr val="2F4FA0"/>
          </a:soli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9810750" y="2114550"/>
            <a:ext cx="857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C9D6F5"/>
                </a:solidFill>
                <a:latin typeface="Arial"/>
                <a:ea typeface="Arial"/>
              </a:rPr>
              <a:t>STEP 8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9810750" y="2705100"/>
            <a:ext cx="857250" cy="2667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成绩分析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647700" y="3524250"/>
            <a:ext cx="3495675" cy="895350"/>
          </a:xfrm>
          <a:prstGeom prst="roundRect">
            <a:avLst>
              <a:gd name="adj" fmla="val 8511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147" name=""/>
          <p:cNvSpPr/>
          <p:nvPr/>
        </p:nvSpPr>
        <p:spPr>
          <a:xfrm rot="0" flipH="0" flipV="0">
            <a:off x="647700" y="3524250"/>
            <a:ext cx="3495675" cy="895350"/>
          </a:xfrm>
          <a:custGeom>
            <a:pathLst>
              <a:path w="367" h="94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90"/>
                </a:lnTo>
                <a:cubicBezTo>
                  <a:pt x="4" y="92"/>
                  <a:pt x="5" y="94"/>
                  <a:pt x="7" y="94"/>
                </a:cubicBezTo>
                <a:cubicBezTo>
                  <a:pt x="3" y="94"/>
                  <a:pt x="0" y="90"/>
                  <a:pt x="0" y="86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4F7BE8"/>
          </a:solidFill>
          <a:ln/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838200" y="3714750"/>
            <a:ext cx="3114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B2A5B"/>
                </a:solidFill>
                <a:latin typeface="Microsoft YaHei"/>
                <a:ea typeface="Microsoft YaHei"/>
              </a:rPr>
              <a:t>每一环可反查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838200" y="3971925"/>
            <a:ext cx="3114675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4A5262"/>
                </a:solidFill>
                <a:latin typeface="Microsoft YaHei"/>
                <a:ea typeface="Microsoft YaHei"/>
              </a:rPr>
              <a:t>从一份成绩能追到答卷、试卷、题目与大纲。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4371975" y="3524250"/>
            <a:ext cx="3495675" cy="895350"/>
          </a:xfrm>
          <a:prstGeom prst="roundRect">
            <a:avLst>
              <a:gd name="adj" fmla="val 8511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151" name=""/>
          <p:cNvSpPr/>
          <p:nvPr/>
        </p:nvSpPr>
        <p:spPr>
          <a:xfrm rot="0" flipH="0" flipV="0">
            <a:off x="4371975" y="3524250"/>
            <a:ext cx="3495675" cy="895350"/>
          </a:xfrm>
          <a:custGeom>
            <a:pathLst>
              <a:path w="367" h="94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90"/>
                </a:lnTo>
                <a:cubicBezTo>
                  <a:pt x="4" y="92"/>
                  <a:pt x="5" y="94"/>
                  <a:pt x="7" y="94"/>
                </a:cubicBezTo>
                <a:cubicBezTo>
                  <a:pt x="3" y="94"/>
                  <a:pt x="0" y="90"/>
                  <a:pt x="0" y="86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4F7BE8"/>
          </a:soli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4562475" y="3714750"/>
            <a:ext cx="3114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B2A5B"/>
                </a:solidFill>
                <a:latin typeface="Microsoft YaHei"/>
                <a:ea typeface="Microsoft YaHei"/>
              </a:rPr>
              <a:t>规则写进系统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4562475" y="3971925"/>
            <a:ext cx="3114675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4A5262"/>
                </a:solidFill>
                <a:latin typeface="Microsoft YaHei"/>
                <a:ea typeface="Microsoft YaHei"/>
              </a:rPr>
              <a:t>计时、交卷、成绩发布都由服务端裁决，不靠自觉。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8086725" y="3524250"/>
            <a:ext cx="3495675" cy="895350"/>
          </a:xfrm>
          <a:prstGeom prst="roundRect">
            <a:avLst>
              <a:gd name="adj" fmla="val 8511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155" name=""/>
          <p:cNvSpPr/>
          <p:nvPr/>
        </p:nvSpPr>
        <p:spPr>
          <a:xfrm rot="0" flipH="0" flipV="0">
            <a:off x="8086725" y="3524250"/>
            <a:ext cx="3495675" cy="895350"/>
          </a:xfrm>
          <a:custGeom>
            <a:pathLst>
              <a:path w="367" h="94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90"/>
                </a:lnTo>
                <a:cubicBezTo>
                  <a:pt x="4" y="92"/>
                  <a:pt x="5" y="94"/>
                  <a:pt x="7" y="94"/>
                </a:cubicBezTo>
                <a:cubicBezTo>
                  <a:pt x="3" y="94"/>
                  <a:pt x="0" y="90"/>
                  <a:pt x="0" y="86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4F7BE8"/>
          </a:soli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8277225" y="3714750"/>
            <a:ext cx="3114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B2A5B"/>
                </a:solidFill>
                <a:latin typeface="Microsoft YaHei"/>
                <a:ea typeface="Microsoft YaHei"/>
              </a:rPr>
              <a:t>一次录入多处复用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8277225" y="3971925"/>
            <a:ext cx="3114675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4A5262"/>
                </a:solidFill>
                <a:latin typeface="Microsoft YaHei"/>
                <a:ea typeface="Microsoft YaHei"/>
              </a:rPr>
              <a:t>题目录一次，练习、考试、分析共用同一份数据。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11163300" y="64770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8A2B3"/>
                </a:solidFill>
                <a:latin typeface="Microsoft YaHei"/>
                <a:ea typeface="Microsoft YaHei"/>
              </a:rPr>
              <a:t>03 / 12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59" name="" descr="&lt;Slide style={{ width: 1280, height: 720, background: '#FFFFFF', padding: 64, position: 'relative' }}&gt;&#10;  &lt;Box style={{ flexDirection: 'column' }}&gt;&#10;    &lt;Text style={{ fontSize: 13, color: '#4F7BE8', letterSpacing: 4, fontWeight: 'bold' }}&gt;CAPABILITY MAP&lt;/Text&gt;&#10;    &lt;Text style={{ fontSize: 40, fontWeight: 'bold', color: '#1B2A5B', marginTop: 10 }}&gt;四块能力，覆盖考试全周期&lt;/Text&gt;&#10;    &lt;Text style={{ fontSize: 16, color: '#4A5262', marginTop: 10 }}&gt;不是十几个孤立的小工具，而是同一套权限与数据下的四个模块。&lt;/Text&gt;&#10;&#10;    &lt;Box style={{ flexDirection: 'column', gap: 16, marginTop: 34 }}&gt;&#10;      &lt;Box style={{ flexDirection: 'row', alignItems: 'center', gap: 16 }}&gt;&#10;        &lt;Box style={{ width: 208, height: 88, background: '#2F4FA0', borderRadius: 10, padding: 16, flexDirection: 'column', justifyContent: 'center' }}&gt;&#10;          &lt;Text style={{ fontSize: 18, fontWeight: 'bold', color: '#FFFFFF' }}&gt;平台域&lt;/Text&gt;&#10;          &lt;Text style={{ fontSize: 12, color: '#C9D6F5', marginTop: 4 }}&gt;system&lt;/Text&gt;&#10;        &lt;/Box&gt;&#10;        &lt;Box style={{ flex: 1, height: 88, background: '#F4F6FB', borderRadius: 10, padding: 16, flexDirection: 'column', justifyContent: 'center' }}&gt;&#10;          &lt;Text style={{ fontSize: 15, color: '#1B2A5B', fontWeight: 'bold' }}&gt;组织 · 用户 · 角色权限 · 字典参数&lt;/Text&gt;&#10;          &lt;Text style={{ fontSize: 13, color: '#4A5262', marginTop: 6 }}&gt;菜单与按钮两级权限，按角色动态下发&lt;/Text&gt;&#10;        &lt;/Box&gt;&#10;      &lt;/Box&gt;&#10;&#10;      &lt;Box style={{ flexDirection: 'row', alignItems: 'center', gap: 16 }}&gt;&#10;        &lt;Box style={{ width: 208, height: 88, background: '#2F4FA0', borderRadius: 10, padding: 16, flexDirection: 'column', justifyContent: 'center' }}&gt;&#10;          &lt;Text style={{ fontSize: 18, fontWeight: 'bold', color: '#FFFFFF' }}&gt;内容域&lt;/Text&gt;&#10;          &lt;Text style={{ fontSize: 12, color: '#C9D6F5', marginTop: 4 }}&gt;content&lt;/Text&gt;&#10;        &lt;/Box&gt;&#10;        &lt;Box style={{ flex: 1, height: 88, background: '#F4F6FB', borderRadius: 10, padding: 16, flexDirection: 'column', justifyContent: 'center' }}&gt;&#10;          &lt;Text style={{ fontSize: 15, color: '#1B2A5B', fontWeight: 'bold' }}&gt;大纲 · 题库 · 试题 · 组卷&lt;/Text&gt;&#10;          &lt;Text style={{ fontSize: 13, color: '#4A5262', marginTop: 6 }}&gt;6 种题型、批量导入、手动组卷与策略自动组卷&lt;/Text&gt;&#10;        &lt;/Box&gt;&#10;      &lt;/Box&gt;&#10;&#10;      &lt;Box style={{ flexDirection: 'row', alignItems: 'center', gap: 16 }}&gt;&#10;        &lt;Box style={{ width: 208, height: 88, background: '#2F4FA0', borderRadius: 10, padding: 16, flexDirection: 'column', justifyContent: 'center' }}&gt;&#10;          &lt;Text style={{ fontSize: 18, fontWeight: 'bold', color: '#FFFFFF' }}&gt;考试域&lt;/Text&gt;&#10;          &lt;Text style={{ fontSize: 12, color: '#C9D6F5', marginTop: 4 }}&gt;exam&lt;/Text&gt;&#10;        &lt;/Box&gt;&#10;        &lt;Box style={{ flex: 1, height: 88, background: '#F4F6FB', borderRadius: 10, padding: 16, flexDirection: 'column', justifyContent: 'center' }}&gt;&#10;          &lt;Text style={{ fontSize: 15, color: '#1B2A5B', fontWeight: 'bold' }}&gt;考试计划 · 报名审核 · 在线答题 · 监考 · 阅卷&lt;/Text&gt;&#10;          &lt;Text style={{ fontSize: 13, color: '#4A5262', marginTop: 6 }}&gt;服务端计时、断点续考、强制交卷、主观题人工评分&lt;/Text&gt;&#10;        &lt;/Box&gt;&#10;      &lt;/Box&gt;&#10;&#10;      &lt;Box style={{ flexDirection: 'row', alignItems: 'center', gap: 16 }}&gt;&#10;        &lt;Box style={{ width: 208, height: 88, background: '#1B2A5B', borderRadius: 10, padding: 16, flexDirection: 'column', justifyContent: 'center' }}&gt;&#10;          &lt;Text style={{ fontSize: 18, fontWeight: 'bold', color: '#FFFFFF' }}&gt;报表域&lt;/Text&gt;&#10;          &lt;Text style={{ fontSize: 12, color: '#C9D6F5', marginTop: 4 }}&gt;report&lt;/Text&gt;&#10;        &lt;/Box&gt;&#10;        &lt;Box style={{ flex: 1, height: 88, background: '#F4F6FB', borderRadius: 10, padding: 16, flexDirection: 'column', justifyContent: 'center' }}&gt;&#10;          &lt;Text style={{ fontSize: 15, color: '#1B2A5B', fontWeight: 'bold' }}&gt;首页概览 · 成绩统计 · 成绩分析&lt;/Text&gt;&#10;          &lt;Text style={{ fontSize: 13, color: '#4A5262', marginTop: 6 }}&gt;及格率、分数段、排名、题目正确率与难度&lt;/Text&gt;&#10;        &lt;/Box&gt;&#10;      &lt;/Box&gt;&#10;    &lt;/Box&gt;&#10;  &lt;/Box&gt;&#10;&#10;  &lt;Box style={{ position: 'absolute', right: 64, bottom: 24 }}&gt;&#10;    &lt;Text style={{ fontSize: 13, color: '#98A2B3' }}&gt;04 / 1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609600" y="609600"/>
            <a:ext cx="10972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300">
                <a:solidFill>
                  <a:srgbClr val="4F7BE8"/>
                </a:solidFill>
                <a:latin typeface="Microsoft YaHei"/>
                <a:ea typeface="Microsoft YaHei"/>
              </a:rPr>
              <a:t>CAPABILITY MAP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609600" y="857250"/>
            <a:ext cx="109728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1B2A5B"/>
                </a:solidFill>
                <a:latin typeface="Microsoft YaHei"/>
                <a:ea typeface="Microsoft YaHei"/>
              </a:rPr>
              <a:t>四块能力，覆盖考试全周期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609600" y="1409700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262"/>
                </a:solidFill>
                <a:latin typeface="Microsoft YaHei"/>
                <a:ea typeface="Microsoft YaHei"/>
              </a:rPr>
              <a:t>不是十几个孤立的小工具，而是同一套权限与数据下的四个模块。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609600" y="1924050"/>
            <a:ext cx="1981200" cy="838200"/>
          </a:xfrm>
          <a:prstGeom prst="roundRect">
            <a:avLst>
              <a:gd name="adj" fmla="val 11364"/>
            </a:avLst>
          </a:prstGeom>
          <a:solidFill>
            <a:srgbClr val="2F4FA0"/>
          </a:solidFill>
          <a:ln/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762000" y="2152650"/>
            <a:ext cx="1676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平台域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762000" y="2400300"/>
            <a:ext cx="1676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C9D6F5"/>
                </a:solidFill>
                <a:latin typeface="Microsoft YaHei"/>
                <a:ea typeface="Microsoft YaHei"/>
              </a:rPr>
              <a:t>system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2743200" y="1924050"/>
            <a:ext cx="8839200" cy="838200"/>
          </a:xfrm>
          <a:prstGeom prst="roundRect">
            <a:avLst>
              <a:gd name="adj" fmla="val 11364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2895600" y="2152650"/>
            <a:ext cx="853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B2A5B"/>
                </a:solidFill>
                <a:latin typeface="Microsoft YaHei"/>
                <a:ea typeface="Microsoft YaHei"/>
              </a:rPr>
              <a:t>组织</a:t>
            </a:r>
            <a:r>
              <a:rPr lang="en-US" sz="1125" b="1">
                <a:solidFill>
                  <a:srgbClr val="1B2A5B"/>
                </a:solidFill>
                <a:latin typeface="Microsoft YaHei"/>
                <a:ea typeface="Microsoft YaHei"/>
              </a:rPr>
              <a:t> · </a:t>
            </a:r>
            <a:r>
              <a:rPr lang="zh-CN" sz="1125" b="1">
                <a:solidFill>
                  <a:srgbClr val="1B2A5B"/>
                </a:solidFill>
                <a:latin typeface="Microsoft YaHei"/>
                <a:ea typeface="Microsoft YaHei"/>
              </a:rPr>
              <a:t>用户</a:t>
            </a:r>
            <a:r>
              <a:rPr lang="en-US" sz="1125" b="1">
                <a:solidFill>
                  <a:srgbClr val="1B2A5B"/>
                </a:solidFill>
                <a:latin typeface="Microsoft YaHei"/>
                <a:ea typeface="Microsoft YaHei"/>
              </a:rPr>
              <a:t> · </a:t>
            </a:r>
            <a:r>
              <a:rPr lang="zh-CN" sz="1125" b="1">
                <a:solidFill>
                  <a:srgbClr val="1B2A5B"/>
                </a:solidFill>
                <a:latin typeface="Microsoft YaHei"/>
                <a:ea typeface="Microsoft YaHei"/>
              </a:rPr>
              <a:t>角色权限</a:t>
            </a:r>
            <a:r>
              <a:rPr lang="en-US" sz="1125" b="1">
                <a:solidFill>
                  <a:srgbClr val="1B2A5B"/>
                </a:solidFill>
                <a:latin typeface="Microsoft YaHei"/>
                <a:ea typeface="Microsoft YaHei"/>
              </a:rPr>
              <a:t> · </a:t>
            </a:r>
            <a:r>
              <a:rPr lang="zh-CN" sz="1125" b="1">
                <a:solidFill>
                  <a:srgbClr val="1B2A5B"/>
                </a:solidFill>
                <a:latin typeface="Microsoft YaHei"/>
                <a:ea typeface="Microsoft YaHei"/>
              </a:rPr>
              <a:t>字典参数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2895600" y="2381250"/>
            <a:ext cx="853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A5262"/>
                </a:solidFill>
                <a:latin typeface="Microsoft YaHei"/>
                <a:ea typeface="Microsoft YaHei"/>
              </a:rPr>
              <a:t>菜单与按钮两级权限，按角色动态下发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609600" y="2914650"/>
            <a:ext cx="1981200" cy="838200"/>
          </a:xfrm>
          <a:prstGeom prst="roundRect">
            <a:avLst>
              <a:gd name="adj" fmla="val 11364"/>
            </a:avLst>
          </a:prstGeom>
          <a:solidFill>
            <a:srgbClr val="2F4FA0"/>
          </a:solidFill>
          <a:ln/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762000" y="3143250"/>
            <a:ext cx="1676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内容域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762000" y="3390900"/>
            <a:ext cx="1676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C9D6F5"/>
                </a:solidFill>
                <a:latin typeface="Microsoft YaHei"/>
                <a:ea typeface="Microsoft YaHei"/>
              </a:rPr>
              <a:t>content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2743200" y="2914650"/>
            <a:ext cx="8839200" cy="838200"/>
          </a:xfrm>
          <a:prstGeom prst="roundRect">
            <a:avLst>
              <a:gd name="adj" fmla="val 11364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2895600" y="3143250"/>
            <a:ext cx="853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B2A5B"/>
                </a:solidFill>
                <a:latin typeface="Microsoft YaHei"/>
                <a:ea typeface="Microsoft YaHei"/>
              </a:rPr>
              <a:t>大纲</a:t>
            </a:r>
            <a:r>
              <a:rPr lang="en-US" sz="1125" b="1">
                <a:solidFill>
                  <a:srgbClr val="1B2A5B"/>
                </a:solidFill>
                <a:latin typeface="Microsoft YaHei"/>
                <a:ea typeface="Microsoft YaHei"/>
              </a:rPr>
              <a:t> · </a:t>
            </a:r>
            <a:r>
              <a:rPr lang="zh-CN" sz="1125" b="1">
                <a:solidFill>
                  <a:srgbClr val="1B2A5B"/>
                </a:solidFill>
                <a:latin typeface="Microsoft YaHei"/>
                <a:ea typeface="Microsoft YaHei"/>
              </a:rPr>
              <a:t>题库</a:t>
            </a:r>
            <a:r>
              <a:rPr lang="en-US" sz="1125" b="1">
                <a:solidFill>
                  <a:srgbClr val="1B2A5B"/>
                </a:solidFill>
                <a:latin typeface="Microsoft YaHei"/>
                <a:ea typeface="Microsoft YaHei"/>
              </a:rPr>
              <a:t> · </a:t>
            </a:r>
            <a:r>
              <a:rPr lang="zh-CN" sz="1125" b="1">
                <a:solidFill>
                  <a:srgbClr val="1B2A5B"/>
                </a:solidFill>
                <a:latin typeface="Microsoft YaHei"/>
                <a:ea typeface="Microsoft YaHei"/>
              </a:rPr>
              <a:t>试题</a:t>
            </a:r>
            <a:r>
              <a:rPr lang="en-US" sz="1125" b="1">
                <a:solidFill>
                  <a:srgbClr val="1B2A5B"/>
                </a:solidFill>
                <a:latin typeface="Microsoft YaHei"/>
                <a:ea typeface="Microsoft YaHei"/>
              </a:rPr>
              <a:t> · </a:t>
            </a:r>
            <a:r>
              <a:rPr lang="zh-CN" sz="1125" b="1">
                <a:solidFill>
                  <a:srgbClr val="1B2A5B"/>
                </a:solidFill>
                <a:latin typeface="Microsoft YaHei"/>
                <a:ea typeface="Microsoft YaHei"/>
              </a:rPr>
              <a:t>组卷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2895600" y="3371850"/>
            <a:ext cx="853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A5262"/>
                </a:solidFill>
                <a:latin typeface="Microsoft YaHei"/>
                <a:ea typeface="Microsoft YaHei"/>
              </a:rPr>
              <a:t>6 </a:t>
            </a:r>
            <a:r>
              <a:rPr lang="zh-CN" sz="975">
                <a:solidFill>
                  <a:srgbClr val="4A5262"/>
                </a:solidFill>
                <a:latin typeface="Microsoft YaHei"/>
                <a:ea typeface="Microsoft YaHei"/>
              </a:rPr>
              <a:t>种题型、批量导入、手动组卷与策略自动组卷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609600" y="3905250"/>
            <a:ext cx="1981200" cy="838200"/>
          </a:xfrm>
          <a:prstGeom prst="roundRect">
            <a:avLst>
              <a:gd name="adj" fmla="val 11364"/>
            </a:avLst>
          </a:prstGeom>
          <a:solidFill>
            <a:srgbClr val="2F4FA0"/>
          </a:solidFill>
          <a:ln/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762000" y="4133850"/>
            <a:ext cx="1676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考试域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762000" y="4381500"/>
            <a:ext cx="1676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C9D6F5"/>
                </a:solidFill>
                <a:latin typeface="Microsoft YaHei"/>
                <a:ea typeface="Microsoft YaHei"/>
              </a:rPr>
              <a:t>exam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2743200" y="3905250"/>
            <a:ext cx="8839200" cy="838200"/>
          </a:xfrm>
          <a:prstGeom prst="roundRect">
            <a:avLst>
              <a:gd name="adj" fmla="val 11364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2895600" y="4133850"/>
            <a:ext cx="853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B2A5B"/>
                </a:solidFill>
                <a:latin typeface="Microsoft YaHei"/>
                <a:ea typeface="Microsoft YaHei"/>
              </a:rPr>
              <a:t>考试计划</a:t>
            </a:r>
            <a:r>
              <a:rPr lang="en-US" sz="1125" b="1">
                <a:solidFill>
                  <a:srgbClr val="1B2A5B"/>
                </a:solidFill>
                <a:latin typeface="Microsoft YaHei"/>
                <a:ea typeface="Microsoft YaHei"/>
              </a:rPr>
              <a:t> · </a:t>
            </a:r>
            <a:r>
              <a:rPr lang="zh-CN" sz="1125" b="1">
                <a:solidFill>
                  <a:srgbClr val="1B2A5B"/>
                </a:solidFill>
                <a:latin typeface="Microsoft YaHei"/>
                <a:ea typeface="Microsoft YaHei"/>
              </a:rPr>
              <a:t>报名审核</a:t>
            </a:r>
            <a:r>
              <a:rPr lang="en-US" sz="1125" b="1">
                <a:solidFill>
                  <a:srgbClr val="1B2A5B"/>
                </a:solidFill>
                <a:latin typeface="Microsoft YaHei"/>
                <a:ea typeface="Microsoft YaHei"/>
              </a:rPr>
              <a:t> · </a:t>
            </a:r>
            <a:r>
              <a:rPr lang="zh-CN" sz="1125" b="1">
                <a:solidFill>
                  <a:srgbClr val="1B2A5B"/>
                </a:solidFill>
                <a:latin typeface="Microsoft YaHei"/>
                <a:ea typeface="Microsoft YaHei"/>
              </a:rPr>
              <a:t>在线答题</a:t>
            </a:r>
            <a:r>
              <a:rPr lang="en-US" sz="1125" b="1">
                <a:solidFill>
                  <a:srgbClr val="1B2A5B"/>
                </a:solidFill>
                <a:latin typeface="Microsoft YaHei"/>
                <a:ea typeface="Microsoft YaHei"/>
              </a:rPr>
              <a:t> · </a:t>
            </a:r>
            <a:r>
              <a:rPr lang="zh-CN" sz="1125" b="1">
                <a:solidFill>
                  <a:srgbClr val="1B2A5B"/>
                </a:solidFill>
                <a:latin typeface="Microsoft YaHei"/>
                <a:ea typeface="Microsoft YaHei"/>
              </a:rPr>
              <a:t>监考</a:t>
            </a:r>
            <a:r>
              <a:rPr lang="en-US" sz="1125" b="1">
                <a:solidFill>
                  <a:srgbClr val="1B2A5B"/>
                </a:solidFill>
                <a:latin typeface="Microsoft YaHei"/>
                <a:ea typeface="Microsoft YaHei"/>
              </a:rPr>
              <a:t> · </a:t>
            </a:r>
            <a:r>
              <a:rPr lang="zh-CN" sz="1125" b="1">
                <a:solidFill>
                  <a:srgbClr val="1B2A5B"/>
                </a:solidFill>
                <a:latin typeface="Microsoft YaHei"/>
                <a:ea typeface="Microsoft YaHei"/>
              </a:rPr>
              <a:t>阅卷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2895600" y="4362450"/>
            <a:ext cx="853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A5262"/>
                </a:solidFill>
                <a:latin typeface="Microsoft YaHei"/>
                <a:ea typeface="Microsoft YaHei"/>
              </a:rPr>
              <a:t>服务端计时、断点续考、强制交卷、主观题人工评分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609600" y="4895850"/>
            <a:ext cx="1981200" cy="838200"/>
          </a:xfrm>
          <a:prstGeom prst="roundRect">
            <a:avLst>
              <a:gd name="adj" fmla="val 11364"/>
            </a:avLst>
          </a:prstGeom>
          <a:solidFill>
            <a:srgbClr val="1B2A5B"/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762000" y="5124450"/>
            <a:ext cx="1676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报表域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762000" y="5372100"/>
            <a:ext cx="1676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C9D6F5"/>
                </a:solidFill>
                <a:latin typeface="Microsoft YaHei"/>
                <a:ea typeface="Microsoft YaHei"/>
              </a:rPr>
              <a:t>report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2743200" y="4895850"/>
            <a:ext cx="8839200" cy="838200"/>
          </a:xfrm>
          <a:prstGeom prst="roundRect">
            <a:avLst>
              <a:gd name="adj" fmla="val 11364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2895600" y="5124450"/>
            <a:ext cx="853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B2A5B"/>
                </a:solidFill>
                <a:latin typeface="Microsoft YaHei"/>
                <a:ea typeface="Microsoft YaHei"/>
              </a:rPr>
              <a:t>首页概览</a:t>
            </a:r>
            <a:r>
              <a:rPr lang="en-US" sz="1125" b="1">
                <a:solidFill>
                  <a:srgbClr val="1B2A5B"/>
                </a:solidFill>
                <a:latin typeface="Microsoft YaHei"/>
                <a:ea typeface="Microsoft YaHei"/>
              </a:rPr>
              <a:t> · </a:t>
            </a:r>
            <a:r>
              <a:rPr lang="zh-CN" sz="1125" b="1">
                <a:solidFill>
                  <a:srgbClr val="1B2A5B"/>
                </a:solidFill>
                <a:latin typeface="Microsoft YaHei"/>
                <a:ea typeface="Microsoft YaHei"/>
              </a:rPr>
              <a:t>成绩统计</a:t>
            </a:r>
            <a:r>
              <a:rPr lang="en-US" sz="1125" b="1">
                <a:solidFill>
                  <a:srgbClr val="1B2A5B"/>
                </a:solidFill>
                <a:latin typeface="Microsoft YaHei"/>
                <a:ea typeface="Microsoft YaHei"/>
              </a:rPr>
              <a:t> · </a:t>
            </a:r>
            <a:r>
              <a:rPr lang="zh-CN" sz="1125" b="1">
                <a:solidFill>
                  <a:srgbClr val="1B2A5B"/>
                </a:solidFill>
                <a:latin typeface="Microsoft YaHei"/>
                <a:ea typeface="Microsoft YaHei"/>
              </a:rPr>
              <a:t>成绩分析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2895600" y="5353050"/>
            <a:ext cx="853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A5262"/>
                </a:solidFill>
                <a:latin typeface="Microsoft YaHei"/>
                <a:ea typeface="Microsoft YaHei"/>
              </a:rPr>
              <a:t>及格率、分数段、排名、题目正确率与难度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11163300" y="64770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8A2B3"/>
                </a:solidFill>
                <a:latin typeface="Microsoft YaHei"/>
                <a:ea typeface="Microsoft YaHei"/>
              </a:rPr>
              <a:t>04 / 12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89" name="" descr="&lt;Slide style={{ width: 1280, height: 720, background: '#FFFFFF', padding: 64, position: 'relative' }}&gt;&#10;  &lt;Box style={{ flexDirection: 'column' }}&gt;&#10;    &lt;Text style={{ fontSize: 13, color: '#4F7BE8', letterSpacing: 4, fontWeight: 'bold' }}&gt;FOR ADMINS&lt;/Text&gt;&#10;    &lt;Text style={{ fontSize: 38, fontWeight: 'bold', color: '#1B2A5B', marginTop: 10 }}&gt;命题与组卷：录一次，自动出卷&lt;/Text&gt;&#10;&#10;    &lt;Box style={{ flexDirection: 'row', gap: 44, marginTop: 34, alignItems: 'flex-start' }}&gt;&#10;      &lt;Box style={{ width: 470, flexDirection: 'column', gap: 20 }}&gt;&#10;        &lt;Box style={{ flexDirection: 'row', gap: 14, alignItems: 'flex-start' }}&gt;&#10;          &lt;Box style={{ width: 4, height: 44, background: '#4F7BE8', borderRadius: 2 }} /&gt;&#10;          &lt;Box style={{ flexDirection: 'column', width: 440 }}&gt;&#10;            &lt;Text style={{ fontSize: 17, fontWeight: 'bold', color: '#1B2A5B' }}&gt;大纲 — 题库 — 试题三层结构&lt;/Text&gt;&#10;            &lt;Text style={{ fontSize: 14, color: '#4A5262', lineHeight: 1.6, marginTop: 4 }}&gt;题库必须挂在大纲下，已关联的大纲不允许删除，避免误删断链。&lt;/Text&gt;&#10;          &lt;/Box&gt;&#10;        &lt;/Box&gt;&#10;&#10;        &lt;Box style={{ flexDirection: 'row', gap: 14, alignItems: 'flex-start' }}&gt;&#10;          &lt;Box style={{ width: 4, height: 44, background: '#4F7BE8', borderRadius: 2 }} /&gt;&#10;          &lt;Box style={{ flexDirection: 'column', width: 440 }}&gt;&#10;            &lt;Text style={{ fontSize: 17, fontWeight: 'bold', color: '#1B2A5B' }}&gt;六种题型，覆盖客观与主观&lt;/Text&gt;&#10;            &lt;Text style={{ fontSize: 14, color: '#4A5262', lineHeight: 1.6, marginTop: 4 }}&gt;单选、多选、判断、填空、简答，以及带子题的材料题；支持批量导入。&lt;/Text&gt;&#10;          &lt;/Box&gt;&#10;        &lt;/Box&gt;&#10;&#10;        &lt;Box style={{ flexDirection: 'row', gap: 14, alignItems: 'flex-start' }}&gt;&#10;          &lt;Box style={{ width: 4, height: 44, background: '#4F7BE8', borderRadius: 2 }} /&gt;&#10;          &lt;Box style={{ flexDirection: 'column', width: 440 }}&gt;&#10;            &lt;Text style={{ fontSize: 17, fontWeight: 'bold', color: '#1B2A5B' }}&gt;策略组卷：按配比一键生成&lt;/Text&gt;&#10;            &lt;Text style={{ fontSize: 14, color: '#4A5262', lineHeight: 1.6, marginTop: 4 }}&gt;设定各题型数量与分值即出卷；题库题量不够时直接提示缺口，不会生成残缺试卷。&lt;/Text&gt;&#10;          &lt;/Box&gt;&#10;        &lt;/Box&gt;&#10;&#10;        &lt;Box style={{ marginTop: 4, background: '#F4F6FB', borderRadius: 10, padding: 18, borderLeft: '4px solid #2F4FA0' }}&gt;&#10;          &lt;Text style={{ fontSize: 14, color: '#1B2A5B', lineHeight: 1.65 }}&gt;试卷生成后可直接在列表发起排考，无需再次导入题目。&lt;/Text&gt;&#10;        &lt;/Box&gt;&#10;      &lt;/Box&gt;&#10;&#10;      &lt;Box style={{ flexDirection: 'column', gap: 10 }}&gt;&#10;        &lt;Image src=&quot;assets/ui_papers.png&quot; style={{ width: 610, height: 343, borderRadius: 10, border: '1px solid #E2E6F0', objectFit: 'cover' }} /&gt;&#10;        &lt;Text style={{ fontSize: 12, color: '#98A2B3' }}&gt;试卷管理：题量、总分、及格分与排考入口集中在同一行&lt;/Text&gt;&#10;      &lt;/Box&gt;&#10;    &lt;/Box&gt;&#10;  &lt;/Box&gt;&#10;&#10;  &lt;Box style={{ position: 'absolute', right: 64, bottom: 24 }}&gt;&#10;    &lt;Text style={{ fontSize: 13, color: '#98A2B3' }}&gt;05 / 1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609600" y="609600"/>
            <a:ext cx="10972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300">
                <a:solidFill>
                  <a:srgbClr val="4F7BE8"/>
                </a:solidFill>
                <a:latin typeface="Microsoft YaHei"/>
                <a:ea typeface="Microsoft YaHei"/>
              </a:rPr>
              <a:t>FOR ADMINS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609600" y="857250"/>
            <a:ext cx="109728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>
                <a:solidFill>
                  <a:srgbClr val="1B2A5B"/>
                </a:solidFill>
                <a:latin typeface="Microsoft YaHei"/>
                <a:ea typeface="Microsoft YaHei"/>
              </a:rPr>
              <a:t>命题与组卷：录一次，自动出卷</a:t>
            </a:r>
            <a:endParaRPr/>
          </a:p>
        </p:txBody>
      </p:sp>
      <p:sp>
        <p:nvSpPr>
          <p:cNvPr id="193" name=""/>
          <p:cNvSpPr/>
          <p:nvPr/>
        </p:nvSpPr>
        <p:spPr>
          <a:xfrm rot="0" flipH="0" flipV="0">
            <a:off x="609600" y="1619250"/>
            <a:ext cx="38100" cy="419100"/>
          </a:xfrm>
          <a:prstGeom prst="roundRect">
            <a:avLst>
              <a:gd name="adj" fmla="val 50000"/>
            </a:avLst>
          </a:prstGeom>
          <a:solidFill>
            <a:srgbClr val="4F7BE8"/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781050" y="1619250"/>
            <a:ext cx="4191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B2A5B"/>
                </a:solidFill>
                <a:latin typeface="Microsoft YaHei"/>
                <a:ea typeface="Microsoft YaHei"/>
              </a:rPr>
              <a:t>大纲</a:t>
            </a:r>
            <a:r>
              <a:rPr lang="en-US" sz="1275" b="1">
                <a:solidFill>
                  <a:srgbClr val="1B2A5B"/>
                </a:solidFill>
                <a:latin typeface="Microsoft YaHei"/>
                <a:ea typeface="Microsoft YaHei"/>
              </a:rPr>
              <a:t> — </a:t>
            </a:r>
            <a:r>
              <a:rPr lang="zh-CN" sz="1275" b="1">
                <a:solidFill>
                  <a:srgbClr val="1B2A5B"/>
                </a:solidFill>
                <a:latin typeface="Microsoft YaHei"/>
                <a:ea typeface="Microsoft YaHei"/>
              </a:rPr>
              <a:t>题库</a:t>
            </a:r>
            <a:r>
              <a:rPr lang="en-US" sz="1275" b="1">
                <a:solidFill>
                  <a:srgbClr val="1B2A5B"/>
                </a:solidFill>
                <a:latin typeface="Microsoft YaHei"/>
                <a:ea typeface="Microsoft YaHei"/>
              </a:rPr>
              <a:t> — </a:t>
            </a:r>
            <a:r>
              <a:rPr lang="zh-CN" sz="1275" b="1">
                <a:solidFill>
                  <a:srgbClr val="1B2A5B"/>
                </a:solidFill>
                <a:latin typeface="Microsoft YaHei"/>
                <a:ea typeface="Microsoft YaHei"/>
              </a:rPr>
              <a:t>试题三层结构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781050" y="1857375"/>
            <a:ext cx="41910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4A5262"/>
                </a:solidFill>
                <a:latin typeface="Microsoft YaHei"/>
                <a:ea typeface="Microsoft YaHei"/>
              </a:rPr>
              <a:t>题库必须挂在大纲下，已关联的大纲不允许删除，避免误删断链。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609600" y="2305050"/>
            <a:ext cx="38100" cy="419100"/>
          </a:xfrm>
          <a:prstGeom prst="roundRect">
            <a:avLst>
              <a:gd name="adj" fmla="val 50000"/>
            </a:avLst>
          </a:prstGeom>
          <a:solidFill>
            <a:srgbClr val="4F7BE8"/>
          </a:solidFill>
          <a:ln/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781050" y="2305050"/>
            <a:ext cx="4191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B2A5B"/>
                </a:solidFill>
                <a:latin typeface="Microsoft YaHei"/>
                <a:ea typeface="Microsoft YaHei"/>
              </a:rPr>
              <a:t>六种题型，覆盖客观与主观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781050" y="2543175"/>
            <a:ext cx="41910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4A5262"/>
                </a:solidFill>
                <a:latin typeface="Microsoft YaHei"/>
                <a:ea typeface="Microsoft YaHei"/>
              </a:rPr>
              <a:t>单选、多选、判断、填空、简答，以及带子题的材料题；支持批量导入。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609600" y="3248025"/>
            <a:ext cx="38100" cy="419100"/>
          </a:xfrm>
          <a:prstGeom prst="roundRect">
            <a:avLst>
              <a:gd name="adj" fmla="val 50000"/>
            </a:avLst>
          </a:prstGeom>
          <a:solidFill>
            <a:srgbClr val="4F7BE8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781050" y="3248025"/>
            <a:ext cx="4191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B2A5B"/>
                </a:solidFill>
                <a:latin typeface="Microsoft YaHei"/>
                <a:ea typeface="Microsoft YaHei"/>
              </a:rPr>
              <a:t>策略组卷：按配比一键生成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781050" y="3486150"/>
            <a:ext cx="41910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4A5262"/>
                </a:solidFill>
                <a:latin typeface="Microsoft YaHei"/>
                <a:ea typeface="Microsoft YaHei"/>
              </a:rPr>
              <a:t>设定各题型数量与分值即出卷；题库题量不够时直接提示缺口，不会生成残缺试卷。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647700" y="4229100"/>
            <a:ext cx="4476750" cy="609600"/>
          </a:xfrm>
          <a:prstGeom prst="roundRect">
            <a:avLst>
              <a:gd name="adj" fmla="val 15625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203" name=""/>
          <p:cNvSpPr/>
          <p:nvPr/>
        </p:nvSpPr>
        <p:spPr>
          <a:xfrm rot="0" flipH="0" flipV="0">
            <a:off x="647700" y="4229100"/>
            <a:ext cx="4476750" cy="609600"/>
          </a:xfrm>
          <a:custGeom>
            <a:pathLst>
              <a:path w="470" h="64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58"/>
                </a:lnTo>
                <a:cubicBezTo>
                  <a:pt x="4" y="61"/>
                  <a:pt x="6" y="63"/>
                  <a:pt x="9" y="64"/>
                </a:cubicBezTo>
                <a:cubicBezTo>
                  <a:pt x="4" y="63"/>
                  <a:pt x="0" y="59"/>
                  <a:pt x="0" y="5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2F4FA0"/>
          </a:solidFill>
          <a:ln/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819150" y="4400550"/>
            <a:ext cx="4095750" cy="2667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050">
                <a:solidFill>
                  <a:srgbClr val="1B2A5B"/>
                </a:solidFill>
                <a:latin typeface="Microsoft YaHei"/>
                <a:ea typeface="Microsoft YaHei"/>
              </a:rPr>
              <a:t>试卷生成后可直接在列表发起排考，无需再次导入题目。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5505450" y="1619250"/>
            <a:ext cx="5810250" cy="3267075"/>
          </a:xfrm>
          <a:prstGeom prst="rect">
            <a:avLst/>
          </a:prstGeom>
          <a:ln w="12700">
            <a:solidFill>
              <a:srgbClr val="E2E6F0"/>
            </a:solidFill>
            <a:prstDash val="solid"/>
          </a:ln>
        </p:spPr>
        <p:txBody>
          <a:bodyPr/>
          <a:p/>
        </p:txBody>
      </p:sp>
      <p:pic>
        <p:nvPicPr>
          <p:cNvPr id="206" name=""/>
          <p:cNvPicPr>
            <a:picLocks noChangeAspect="1"/>
          </p:cNvPicPr>
          <p:nvPr/>
        </p:nvPicPr>
        <p:blipFill>
          <a:blip r:embed="rId1"/>
          <a:srcRect l="0" t="18" r="0" b="18"/>
          <a:stretch>
            <a:fillRect/>
          </a:stretch>
        </p:blipFill>
        <p:spPr>
          <a:xfrm rot="0" flipH="0" flipV="0">
            <a:off x="5505450" y="1619250"/>
            <a:ext cx="5810250" cy="3267075"/>
          </a:xfrm>
          <a:prstGeom prst="roundRect">
            <a:avLst>
              <a:gd name="adj" fmla="val 2915"/>
            </a:avLst>
          </a:prstGeom>
          <a:ln/>
        </p:spPr>
      </p:pic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5505450" y="4981575"/>
            <a:ext cx="5810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8A2B3"/>
                </a:solidFill>
                <a:latin typeface="Microsoft YaHei"/>
                <a:ea typeface="Microsoft YaHei"/>
              </a:rPr>
              <a:t>试卷管理：题量、总分、及格分与排考入口集中在同一行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11163300" y="64770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8A2B3"/>
                </a:solidFill>
                <a:latin typeface="Microsoft YaHei"/>
                <a:ea typeface="Microsoft YaHei"/>
              </a:rPr>
              <a:t>05 / 12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209" name="" descr="&lt;Slide style={{ width: 1280, height: 720, background: '#FFFFFF', padding: 64, position: 'relative' }}&gt;&#10;  &lt;Box style={{ flexDirection: 'column' }}&gt;&#10;    &lt;Text style={{ fontSize: 13, color: '#4F7BE8', letterSpacing: 4, fontWeight: 'bold' }}&gt;FOR STUDENTS&lt;/Text&gt;&#10;    &lt;Text style={{ fontSize: 38, fontWeight: 'bold', color: '#1B2A5B', marginTop: 10 }}&gt;答题这件事，交给服务端兜底&lt;/Text&gt;&#10;&#10;    &lt;Box style={{ flexDirection: 'row', gap: 40, marginTop: 32, alignItems: 'flex-start' }}&gt;&#10;      &lt;Box style={{ flexDirection: 'column', gap: 10 }}&gt;&#10;        &lt;Image src=&quot;assets/ui_student.png&quot; style={{ width: 620, height: 349, borderRadius: 10, border: '1px solid #E2E6F0', objectFit: 'cover' }} /&gt;&#10;        &lt;Text style={{ fontSize: 12, color: '#98A2B3' }}&gt;学员考试中心：一场进行中的考试，剩余时间与服务端一致&lt;/Text&gt;&#10;      &lt;/Box&gt;&#10;&#10;      &lt;Box style={{ width: 452, flexDirection: 'column', gap: 18 }}&gt;&#10;        &lt;Box style={{ flexDirection: 'row', gap: 12, alignItems: 'center' }}&gt;&#10;          &lt;Text style={{ fontSize: 30, fontWeight: 'bold', color: '#2F4FA0', fontFamily: 'Arial', width: 44 }}&gt;01&lt;/Text&gt;&#10;          &lt;Box style={{ flexDirection: 'column', width: 396 }}&gt;&#10;            &lt;Text style={{ fontSize: 16, fontWeight: 'bold', color: '#1B2A5B' }}&gt;服务端计时&lt;/Text&gt;&#10;            &lt;Text style={{ fontSize: 13, color: '#4A5262', lineHeight: 1.55, marginTop: 2 }}&gt;改本机时间也延长不了考试，剩余时间以服务端为准。&lt;/Text&gt;&#10;          &lt;/Box&gt;&#10;        &lt;/Box&gt;&#10;&#10;        &lt;Box style={{ flexDirection: 'row', gap: 12, alignItems: 'center' }}&gt;&#10;          &lt;Text style={{ fontSize: 30, fontWeight: 'bold', color: '#2F4FA0', fontFamily: 'Arial', width: 44 }}&gt;02&lt;/Text&gt;&#10;          &lt;Box style={{ flexDirection: 'column', width: 396 }}&gt;&#10;            &lt;Text style={{ fontSize: 16, fontWeight: 'bold', color: '#1B2A5B' }}&gt;答案自动保存&lt;/Text&gt;&#10;            &lt;Text style={{ fontSize: 13, color: '#4A5262', lineHeight: 1.55, marginTop: 2 }}&gt;每答一题即落库，不依赖学员点保存。&lt;/Text&gt;&#10;          &lt;/Box&gt;&#10;        &lt;/Box&gt;&#10;&#10;        &lt;Box style={{ flexDirection: 'row', gap: 12, alignItems: 'center' }}&gt;&#10;          &lt;Text style={{ fontSize: 30, fontWeight: 'bold', color: '#2F4FA0', fontFamily: 'Arial', width: 44 }}&gt;03&lt;/Text&gt;&#10;          &lt;Box style={{ flexDirection: 'column', width: 396 }}&gt;&#10;            &lt;Text style={{ fontSize: 16, fontWeight: 'bold', color: '#1B2A5B' }}&gt;断线可续考&lt;/Text&gt;&#10;            &lt;Text style={{ fontSize: 13, color: '#4A5262', lineHeight: 1.55, marginTop: 2 }}&gt;掉线、误关页面，重新登录后接着答，已答内容不丢。&lt;/Text&gt;&#10;          &lt;/Box&gt;&#10;        &lt;/Box&gt;&#10;&#10;        &lt;Box style={{ flexDirection: 'row', gap: 12, alignItems: 'center' }}&gt;&#10;          &lt;Text style={{ fontSize: 30, fontWeight: 'bold', color: '#2F4FA0', fontFamily: 'Arial', width: 44 }}&gt;04&lt;/Text&gt;&#10;          &lt;Box style={{ flexDirection: 'column', width: 396 }}&gt;&#10;            &lt;Text style={{ fontSize: 16, fontWeight: 'bold', color: '#1B2A5B' }}&gt;幂等交卷&lt;/Text&gt;&#10;            &lt;Text style={{ fontSize: 13, color: '#4A5262', lineHeight: 1.55, marginTop: 2 }}&gt;重复点击或多端提交只算一次，不会产生两份成绩。&lt;/Text&gt;&#10;          &lt;/Box&gt;&#10;        &lt;/Box&gt;&#10;      &lt;/Box&gt;&#10;    &lt;/Box&gt;&#10;  &lt;/Box&gt;&#10;&#10;  &lt;Box style={{ position: 'absolute', right: 64, bottom: 24 }}&gt;&#10;    &lt;Text style={{ fontSize: 13, color: '#98A2B3' }}&gt;06 / 1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609600" y="609600"/>
            <a:ext cx="10972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300">
                <a:solidFill>
                  <a:srgbClr val="4F7BE8"/>
                </a:solidFill>
                <a:latin typeface="Microsoft YaHei"/>
                <a:ea typeface="Microsoft YaHei"/>
              </a:rPr>
              <a:t>FOR STUDENTS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609600" y="857250"/>
            <a:ext cx="109728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>
                <a:solidFill>
                  <a:srgbClr val="1B2A5B"/>
                </a:solidFill>
                <a:latin typeface="Microsoft YaHei"/>
                <a:ea typeface="Microsoft YaHei"/>
              </a:rPr>
              <a:t>答题这件事，交给服务端兜底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609600" y="1600200"/>
            <a:ext cx="5905500" cy="3324225"/>
          </a:xfrm>
          <a:prstGeom prst="rect">
            <a:avLst/>
          </a:prstGeom>
          <a:ln w="12700">
            <a:solidFill>
              <a:srgbClr val="E2E6F0"/>
            </a:solidFill>
            <a:prstDash val="solid"/>
          </a:ln>
        </p:spPr>
        <p:txBody>
          <a:bodyPr/>
          <a:p/>
        </p:txBody>
      </p:sp>
      <p:pic>
        <p:nvPicPr>
          <p:cNvPr id="214" name=""/>
          <p:cNvPicPr>
            <a:picLocks noChangeAspect="1"/>
          </p:cNvPicPr>
          <p:nvPr/>
        </p:nvPicPr>
        <p:blipFill>
          <a:blip r:embed="rId1"/>
          <a:srcRect l="35" t="0" r="35" b="0"/>
          <a:stretch>
            <a:fillRect/>
          </a:stretch>
        </p:blipFill>
        <p:spPr>
          <a:xfrm rot="0" flipH="0" flipV="0">
            <a:off x="609600" y="1600200"/>
            <a:ext cx="5905500" cy="3324225"/>
          </a:xfrm>
          <a:prstGeom prst="roundRect">
            <a:avLst>
              <a:gd name="adj" fmla="val 2865"/>
            </a:avLst>
          </a:prstGeom>
          <a:ln/>
        </p:spPr>
      </p:pic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609600" y="5019675"/>
            <a:ext cx="5905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8A2B3"/>
                </a:solidFill>
                <a:latin typeface="Microsoft YaHei"/>
                <a:ea typeface="Microsoft YaHei"/>
              </a:rPr>
              <a:t>学员考试中心：一场进行中的考试，剩余时间与服务端一致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6896100" y="1657350"/>
            <a:ext cx="4191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F4FA0"/>
                </a:solidFill>
                <a:latin typeface="Arial"/>
                <a:ea typeface="Arial"/>
              </a:rPr>
              <a:t>01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7429500" y="1600200"/>
            <a:ext cx="3771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B2A5B"/>
                </a:solidFill>
                <a:latin typeface="Microsoft YaHei"/>
                <a:ea typeface="Microsoft YaHei"/>
              </a:rPr>
              <a:t>服务端计时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7429500" y="1809750"/>
            <a:ext cx="3771900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4A5262"/>
                </a:solidFill>
                <a:latin typeface="Microsoft YaHei"/>
                <a:ea typeface="Microsoft YaHei"/>
              </a:rPr>
              <a:t>改本机时间也延长不了考试，剩余时间以服务端为准。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6896100" y="2276475"/>
            <a:ext cx="4191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F4FA0"/>
                </a:solidFill>
                <a:latin typeface="Arial"/>
                <a:ea typeface="Arial"/>
              </a:rPr>
              <a:t>02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7429500" y="2219325"/>
            <a:ext cx="3771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B2A5B"/>
                </a:solidFill>
                <a:latin typeface="Microsoft YaHei"/>
                <a:ea typeface="Microsoft YaHei"/>
              </a:rPr>
              <a:t>答案自动保存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7429500" y="2428875"/>
            <a:ext cx="3771900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4A5262"/>
                </a:solidFill>
                <a:latin typeface="Microsoft YaHei"/>
                <a:ea typeface="Microsoft YaHei"/>
              </a:rPr>
              <a:t>每答一题即落库，不依赖学员点保存。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6896100" y="2895600"/>
            <a:ext cx="4191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F4FA0"/>
                </a:solidFill>
                <a:latin typeface="Arial"/>
                <a:ea typeface="Arial"/>
              </a:rPr>
              <a:t>03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7429500" y="2838450"/>
            <a:ext cx="3771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B2A5B"/>
                </a:solidFill>
                <a:latin typeface="Microsoft YaHei"/>
                <a:ea typeface="Microsoft YaHei"/>
              </a:rPr>
              <a:t>断线可续考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7429500" y="3048000"/>
            <a:ext cx="3771900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4A5262"/>
                </a:solidFill>
                <a:latin typeface="Microsoft YaHei"/>
                <a:ea typeface="Microsoft YaHei"/>
              </a:rPr>
              <a:t>掉线、误关页面，重新登录后接着答，已答内容不丢。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6896100" y="3514725"/>
            <a:ext cx="4191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F4FA0"/>
                </a:solidFill>
                <a:latin typeface="Arial"/>
                <a:ea typeface="Arial"/>
              </a:rPr>
              <a:t>04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7429500" y="3457575"/>
            <a:ext cx="3771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B2A5B"/>
                </a:solidFill>
                <a:latin typeface="Microsoft YaHei"/>
                <a:ea typeface="Microsoft YaHei"/>
              </a:rPr>
              <a:t>幂等交卷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7429500" y="3667125"/>
            <a:ext cx="3771900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4A5262"/>
                </a:solidFill>
                <a:latin typeface="Microsoft YaHei"/>
                <a:ea typeface="Microsoft YaHei"/>
              </a:rPr>
              <a:t>重复点击或多端提交只算一次，不会产生两份成绩。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11163300" y="64770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8A2B3"/>
                </a:solidFill>
                <a:latin typeface="Microsoft YaHei"/>
                <a:ea typeface="Microsoft YaHei"/>
              </a:rPr>
              <a:t>06 / 12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229" name="" descr="&lt;Slide style={{ width: 1280, height: 720, background: '#FFFFFF', padding: 64, position: 'relative' }}&gt;&#10;  &lt;Box style={{ flexDirection: 'column' }}&gt;&#10;    &lt;Text style={{ fontSize: 13, color: '#4F7BE8', letterSpacing: 4, fontWeight: 'bold' }}&gt;LIVE PROCTORING&lt;/Text&gt;&#10;    &lt;Text style={{ fontSize: 38, fontWeight: 'bold', color: '#1B2A5B', marginTop: 10 }}&gt;监考：谁卡住、谁异常，一屏看清&lt;/Text&gt;&#10;&#10;    &lt;Box style={{ flexDirection: 'row', gap: 40, marginTop: 30, alignItems: 'flex-start' }}&gt;&#10;      &lt;Box style={{ width: 470, flexDirection: 'column', gap: 14 }}&gt;&#10;        &lt;Box style={{ flexDirection: 'row', gap: 16 }}&gt;&#10;          &lt;Box style={{ width: 220, background: '#F4F6FB', borderRadius: 10, padding: 18 }}&gt;&#10;            &lt;Text style={{ fontSize: 40, fontWeight: 'bold', color: '#1B2A5B', fontFamily: 'Arial' }}&gt;10s&lt;/Text&gt;&#10;            &lt;Text style={{ fontSize: 13, color: '#4A5262', marginTop: 4 }}&gt;列表自动刷新间隔&lt;/Text&gt;&#10;          &lt;/Box&gt;&#10;          &lt;Box style={{ width: 220, background: '#F4F6FB', borderRadius: 10, padding: 18 }}&gt;&#10;            &lt;Text style={{ fontSize: 40, fontWeight: 'bold', color: '#1B2A5B', fontFamily: 'Arial' }}&gt;3 次&lt;/Text&gt;&#10;            &lt;Text style={{ fontSize: 13, color: '#4A5262', marginTop: 4 }}&gt;切屏触发异常标记&lt;/Text&gt;&#10;          &lt;/Box&gt;&#10;        &lt;/Box&gt;&#10;&#10;        &lt;Box style={{ background: '#F4F6FB', borderRadius: 10, padding: 18 }}&gt;&#10;          &lt;Text style={{ fontSize: 16, fontWeight: 'bold', color: '#1B2A5B' }}&gt;一眼看到的状态&lt;/Text&gt;&#10;          &lt;Text style={{ fontSize: 13, color: '#4A5262', lineHeight: 1.7, marginTop: 6 }}&gt;&#10;            在考人数、已交卷人数、平均分与切屏异常数实时汇总；&lt;br /&gt;&#10;            每行显示开考时间、剩余时间、已答题数与得分。&#10;          &lt;/Text&gt;&#10;        &lt;/Box&gt;&#10;&#10;        &lt;Box style={{ background: '#F4F6FB', borderRadius: 10, padding: 18 }}&gt;&#10;          &lt;Text style={{ fontSize: 16, fontWeight: 'bold', color: '#1B2A5B' }}&gt;该出手时能出手&lt;/Text&gt;&#10;          &lt;Text style={{ fontSize: 13, color: '#4A5262', lineHeight: 1.7, marginTop: 6 }}&gt;&#10;            支持按姓名、状态、切屏异常筛选；确认违规可强制交卷，&lt;br /&gt;&#10;            系统按当前作答即时结算，不留悬空答卷。&#10;          &lt;/Text&gt;&#10;        &lt;/Box&gt;&#10;      &lt;/Box&gt;&#10;&#10;      &lt;Box style={{ flexDirection: 'column', gap: 10 }}&gt;&#10;        &lt;Image src=&quot;assets/ui_proctor.png&quot; style={{ width: 640, height: 360, borderRadius: 10, border: '1px solid #E2E6F0', objectFit: 'cover' }} /&gt;&#10;        &lt;Text style={{ fontSize: 12, color: '#98A2B3' }}&gt;考试监控：顶部汇总指标，列表按状态与异常筛选&lt;/Text&gt;&#10;      &lt;/Box&gt;&#10;    &lt;/Box&gt;&#10;  &lt;/Box&gt;&#10;&#10;  &lt;Box style={{ position: 'absolute', right: 64, bottom: 24 }}&gt;&#10;    &lt;Text style={{ fontSize: 13, color: '#98A2B3' }}&gt;07 / 1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609600" y="609600"/>
            <a:ext cx="10972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300">
                <a:solidFill>
                  <a:srgbClr val="4F7BE8"/>
                </a:solidFill>
                <a:latin typeface="Microsoft YaHei"/>
                <a:ea typeface="Microsoft YaHei"/>
              </a:rPr>
              <a:t>LIVE PROCTORING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609600" y="857250"/>
            <a:ext cx="109728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>
                <a:solidFill>
                  <a:srgbClr val="1B2A5B"/>
                </a:solidFill>
                <a:latin typeface="Microsoft YaHei"/>
                <a:ea typeface="Microsoft YaHei"/>
              </a:rPr>
              <a:t>监考：谁卡住、谁异常，一屏看清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609600" y="1581150"/>
            <a:ext cx="2095500" cy="990600"/>
          </a:xfrm>
          <a:prstGeom prst="roundRect">
            <a:avLst>
              <a:gd name="adj" fmla="val 9615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781050" y="1752600"/>
            <a:ext cx="17526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1B2A5B"/>
                </a:solidFill>
                <a:latin typeface="Arial"/>
                <a:ea typeface="Arial"/>
              </a:rPr>
              <a:t>10s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781050" y="2247900"/>
            <a:ext cx="1752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A5262"/>
                </a:solidFill>
                <a:latin typeface="Microsoft YaHei"/>
                <a:ea typeface="Microsoft YaHei"/>
              </a:rPr>
              <a:t>列表自动刷新间隔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2857500" y="1581150"/>
            <a:ext cx="2095500" cy="990600"/>
          </a:xfrm>
          <a:prstGeom prst="roundRect">
            <a:avLst>
              <a:gd name="adj" fmla="val 9615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3028950" y="1752600"/>
            <a:ext cx="17526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1B2A5B"/>
                </a:solidFill>
                <a:latin typeface="Arial"/>
                <a:ea typeface="Arial"/>
              </a:rPr>
              <a:t>3 </a:t>
            </a:r>
            <a:r>
              <a:rPr lang="zh-CN" sz="3000" b="1">
                <a:solidFill>
                  <a:srgbClr val="1B2A5B"/>
                </a:solidFill>
                <a:latin typeface="Arial"/>
                <a:ea typeface="Arial"/>
              </a:rPr>
              <a:t>次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3028950" y="2247900"/>
            <a:ext cx="1752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A5262"/>
                </a:solidFill>
                <a:latin typeface="Microsoft YaHei"/>
                <a:ea typeface="Microsoft YaHei"/>
              </a:rPr>
              <a:t>切屏触发异常标记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609600" y="2705100"/>
            <a:ext cx="4476750" cy="1104900"/>
          </a:xfrm>
          <a:prstGeom prst="roundRect">
            <a:avLst>
              <a:gd name="adj" fmla="val 8621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781050" y="2876550"/>
            <a:ext cx="4133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B2A5B"/>
                </a:solidFill>
                <a:latin typeface="Microsoft YaHei"/>
                <a:ea typeface="Microsoft YaHei"/>
              </a:rPr>
              <a:t>一眼看到的状态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781050" y="3124200"/>
            <a:ext cx="4133850" cy="5143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75">
                <a:solidFill>
                  <a:srgbClr val="4A5262"/>
                </a:solidFill>
                <a:latin typeface="Microsoft YaHei"/>
                <a:ea typeface="Microsoft YaHei"/>
              </a:rPr>
              <a:t>在考人数、已交卷人数、平均分与切屏异常数实时汇总；</a:t>
            </a:r>
            <a:endParaRPr/>
          </a:p>
          <a:p>
            <a:pPr>
              <a:lnSpc>
                <a:spcPct val="170000"/>
              </a:lnSpc>
            </a:pPr>
            <a:r>
              <a:rPr lang="zh-CN" sz="975">
                <a:solidFill>
                  <a:srgbClr val="4A5262"/>
                </a:solidFill>
                <a:latin typeface="Microsoft YaHei"/>
                <a:ea typeface="Microsoft YaHei"/>
              </a:rPr>
              <a:t>每行显示开考时间、剩余时间、已答题数与得分。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609600" y="3943350"/>
            <a:ext cx="4476750" cy="1104900"/>
          </a:xfrm>
          <a:prstGeom prst="roundRect">
            <a:avLst>
              <a:gd name="adj" fmla="val 8621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781050" y="4114800"/>
            <a:ext cx="4133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B2A5B"/>
                </a:solidFill>
                <a:latin typeface="Microsoft YaHei"/>
                <a:ea typeface="Microsoft YaHei"/>
              </a:rPr>
              <a:t>该出手时能出手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781050" y="4362450"/>
            <a:ext cx="4133850" cy="5143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75">
                <a:solidFill>
                  <a:srgbClr val="4A5262"/>
                </a:solidFill>
                <a:latin typeface="Microsoft YaHei"/>
                <a:ea typeface="Microsoft YaHei"/>
              </a:rPr>
              <a:t>支持按姓名、状态、切屏异常筛选；确认违规可强制交卷，</a:t>
            </a:r>
            <a:endParaRPr/>
          </a:p>
          <a:p>
            <a:pPr>
              <a:lnSpc>
                <a:spcPct val="170000"/>
              </a:lnSpc>
            </a:pPr>
            <a:r>
              <a:rPr lang="zh-CN" sz="975">
                <a:solidFill>
                  <a:srgbClr val="4A5262"/>
                </a:solidFill>
                <a:latin typeface="Microsoft YaHei"/>
                <a:ea typeface="Microsoft YaHei"/>
              </a:rPr>
              <a:t>系统按当前作答即时结算，不留悬空答卷。</a:t>
            </a:r>
            <a:endParaRPr/>
          </a:p>
        </p:txBody>
      </p:sp>
      <p:sp>
        <p:nvSpPr>
          <p:cNvPr id="245" name=""/>
          <p:cNvSpPr/>
          <p:nvPr/>
        </p:nvSpPr>
        <p:spPr>
          <a:xfrm rot="0" flipH="0" flipV="0">
            <a:off x="5467350" y="1581150"/>
            <a:ext cx="6096000" cy="3429000"/>
          </a:xfrm>
          <a:prstGeom prst="rect">
            <a:avLst/>
          </a:prstGeom>
          <a:ln w="12700">
            <a:solidFill>
              <a:srgbClr val="E2E6F0"/>
            </a:solidFill>
            <a:prstDash val="solid"/>
          </a:ln>
        </p:spPr>
        <p:txBody>
          <a:bodyPr/>
          <a:p/>
        </p:txBody>
      </p:sp>
      <p:pic>
        <p:nvPicPr>
          <p:cNvPr id="246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5467350" y="1581150"/>
            <a:ext cx="6096000" cy="3429000"/>
          </a:xfrm>
          <a:prstGeom prst="roundRect">
            <a:avLst>
              <a:gd name="adj" fmla="val 2778"/>
            </a:avLst>
          </a:prstGeom>
          <a:ln/>
        </p:spPr>
      </p:pic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5467350" y="5105400"/>
            <a:ext cx="6096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8A2B3"/>
                </a:solidFill>
                <a:latin typeface="Microsoft YaHei"/>
                <a:ea typeface="Microsoft YaHei"/>
              </a:rPr>
              <a:t>考试监控：顶部汇总指标，列表按状态与异常筛选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11163300" y="64770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8A2B3"/>
                </a:solidFill>
                <a:latin typeface="Microsoft YaHei"/>
                <a:ea typeface="Microsoft YaHei"/>
              </a:rPr>
              <a:t>07 / 12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249" name="" descr="&lt;Slide style={{ width: 1280, height: 720, background: '#1B2A5B', padding: 64, position: 'relative', overflow: 'hidden' }}&gt;&#10;  &lt;Box style={{ position: 'absolute', right: -160, top: -160, width: 520, height: 520, borderRadius: 260, background: 'rgba(79,123,232,0.16)' }} /&gt;&#10;&#10;  &lt;Box style={{ flexDirection: 'column', position: 'relative', zIndex: 1 }}&gt;&#10;    &lt;Text style={{ fontSize: 13, color: '#8FB0FF', letterSpacing: 4, fontWeight: 'bold' }}&gt;FAIRNESS BY DESIGN&lt;/Text&gt;&#10;    &lt;Text style={{ fontSize: 40, fontWeight: 'bold', color: '#FFFFFF', marginTop: 10 }}&gt;三道闸门，堵住流程漏洞&lt;/Text&gt;&#10;    &lt;Text style={{ fontSize: 16, color: '#AEBCE0', marginTop: 10 }}&gt;防的不是学员，是「谁都能考、提前泄题、事后改分」这些管理缝隙。&lt;/Text&gt;&#10;&#10;    &lt;Box style={{ flexDirection: 'row', gap: 24, marginTop: 44 }}&gt;&#10;      &lt;Box style={{ width: 360, height: 292, background: 'rgba(255,255,255,0.07)', borderRadius: 12, padding: 26, flexDirection: 'column', justifyContent: 'space-between', border: '1px solid rgba(255,255,255,0.12)' }}&gt;&#10;        &lt;Text style={{ fontSize: 13, color: '#8FB0FF', letterSpacing: 2 }}&gt;GATE 01&lt;/Text&gt;&#10;        &lt;Box style={{ flexDirection: 'column', gap: 10 }}&gt;&#10;          &lt;Text style={{ fontSize: 21, fontWeight: 'bold', color: '#FFFFFF' }}&gt;报名审核拦截&lt;/Text&gt;&#10;          &lt;Text style={{ fontSize: 14, color: '#AEBCE0', lineHeight: 1.7 }}&gt;学员先报名、管理员审核，未通过者即使拿到链接也无法开考。&lt;/Text&gt;&#10;        &lt;/Box&gt;&#10;        &lt;Text style={{ fontSize: 13, color: '#7E8DB6' }}&gt;适用于分批次、分岗位的培训考核&lt;/Text&gt;&#10;      &lt;/Box&gt;&#10;&#10;      &lt;Box style={{ width: 360, height: 292, background: 'rgba(255,255,255,0.07)', borderRadius: 12, padding: 26, flexDirection: 'column', justifyContent: 'space-between', border: '1px solid rgba(255,255,255,0.12)' }}&gt;&#10;        &lt;Text style={{ fontSize: 13, color: '#8FB0FF', letterSpacing: 2 }}&gt;GATE 02&lt;/Text&gt;&#10;        &lt;Box style={{ flexDirection: 'column', gap: 10 }}&gt;&#10;          &lt;Text style={{ fontSize: 21, fontWeight: 'bold', color: '#FFFFFF' }}&gt;切屏检测&lt;/Text&gt;&#10;          &lt;Text style={{ fontSize: 14, color: '#AEBCE0', lineHeight: 1.7 }}&gt;切出页面与窗口失焦都会被记录，累计达阈值即标记异常，监考端可见。&lt;/Text&gt;&#10;        &lt;/Box&gt;&#10;        &lt;Text style={{ fontSize: 13, color: '#7E8DB6' }}&gt;异常可复核，不自动判作弊&lt;/Text&gt;&#10;      &lt;/Box&gt;&#10;&#10;      &lt;Box style={{ width: 360, height: 292, background: 'rgba(79,123,232,0.22)', borderRadius: 12, padding: 26, flexDirection: 'column', justifyContent: 'space-between', border: '1px solid rgba(143,176,255,0.35)' }}&gt;&#10;        &lt;Text style={{ fontSize: 13, color: '#C9D6F5', letterSpacing: 2 }}&gt;GATE 03&lt;/Text&gt;&#10;        &lt;Box style={{ flexDirection: 'column', gap: 10 }}&gt;&#10;          &lt;Text style={{ fontSize: 21, fontWeight: 'bold', color: '#FFFFFF' }}&gt;成绩发布闸门&lt;/Text&gt;&#10;          &lt;Text style={{ fontSize: 14, color: '#D6E0F7', lineHeight: 1.7 }}&gt;成绩与解析默认不发布，交卷后只显示状态；管理员确认后才对学员可见。&lt;/Text&gt;&#10;        &lt;/Box&gt;&#10;        &lt;Text style={{ fontSize: 13, color: '#A9BCE8' }}&gt;同一场考试可分批参考，互不泄题&lt;/Text&gt;&#10;      &lt;/Box&gt;&#10;    &lt;/Box&gt;&#10;  &lt;/Box&gt;&#10;&#10;  &lt;Box style={{ position: 'absolute', right: 64, bottom: 24 }}&gt;&#10;    &lt;Text style={{ fontSize: 13, color: '#7E8DB6' }}&gt;08 / 1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B2A5B"/>
          </a:solidFill>
          <a:ln/>
        </p:spPr>
        <p:txBody>
          <a:bodyPr/>
          <a:p/>
        </p:txBody>
      </p:sp>
      <p:sp>
        <p:nvSpPr>
          <p:cNvPr id="251" name=""/>
          <p:cNvSpPr/>
          <p:nvPr/>
        </p:nvSpPr>
        <p:spPr>
          <a:xfrm rot="0" flipH="0" flipV="0">
            <a:off x="8763000" y="-1524000"/>
            <a:ext cx="4953000" cy="4953000"/>
          </a:xfrm>
          <a:custGeom>
            <a:pathLst>
              <a:path w="520" h="520">
                <a:moveTo>
                  <a:pt x="360" y="500"/>
                </a:moveTo>
                <a:lnTo>
                  <a:pt x="355" y="502"/>
                </a:lnTo>
                <a:lnTo>
                  <a:pt x="349" y="504"/>
                </a:lnTo>
                <a:lnTo>
                  <a:pt x="343" y="506"/>
                </a:lnTo>
                <a:lnTo>
                  <a:pt x="337" y="508"/>
                </a:lnTo>
                <a:lnTo>
                  <a:pt x="331" y="510"/>
                </a:lnTo>
                <a:lnTo>
                  <a:pt x="325" y="512"/>
                </a:lnTo>
                <a:lnTo>
                  <a:pt x="319" y="513"/>
                </a:lnTo>
                <a:lnTo>
                  <a:pt x="312" y="515"/>
                </a:lnTo>
                <a:lnTo>
                  <a:pt x="306" y="516"/>
                </a:lnTo>
                <a:lnTo>
                  <a:pt x="300" y="517"/>
                </a:lnTo>
                <a:lnTo>
                  <a:pt x="293" y="518"/>
                </a:lnTo>
                <a:lnTo>
                  <a:pt x="287" y="519"/>
                </a:lnTo>
                <a:lnTo>
                  <a:pt x="280" y="519"/>
                </a:lnTo>
                <a:lnTo>
                  <a:pt x="273" y="520"/>
                </a:lnTo>
                <a:lnTo>
                  <a:pt x="267" y="520"/>
                </a:lnTo>
                <a:lnTo>
                  <a:pt x="260" y="520"/>
                </a:lnTo>
                <a:lnTo>
                  <a:pt x="253" y="520"/>
                </a:lnTo>
                <a:lnTo>
                  <a:pt x="247" y="520"/>
                </a:lnTo>
                <a:lnTo>
                  <a:pt x="240" y="519"/>
                </a:lnTo>
                <a:lnTo>
                  <a:pt x="233" y="519"/>
                </a:lnTo>
                <a:lnTo>
                  <a:pt x="227" y="518"/>
                </a:lnTo>
                <a:lnTo>
                  <a:pt x="220" y="517"/>
                </a:lnTo>
                <a:lnTo>
                  <a:pt x="214" y="516"/>
                </a:lnTo>
                <a:lnTo>
                  <a:pt x="208" y="515"/>
                </a:lnTo>
                <a:lnTo>
                  <a:pt x="201" y="513"/>
                </a:lnTo>
                <a:lnTo>
                  <a:pt x="195" y="512"/>
                </a:lnTo>
                <a:lnTo>
                  <a:pt x="189" y="510"/>
                </a:lnTo>
                <a:lnTo>
                  <a:pt x="183" y="508"/>
                </a:lnTo>
                <a:lnTo>
                  <a:pt x="177" y="506"/>
                </a:lnTo>
                <a:lnTo>
                  <a:pt x="171" y="504"/>
                </a:lnTo>
                <a:lnTo>
                  <a:pt x="165" y="502"/>
                </a:lnTo>
                <a:lnTo>
                  <a:pt x="159" y="500"/>
                </a:lnTo>
                <a:lnTo>
                  <a:pt x="153" y="497"/>
                </a:lnTo>
                <a:lnTo>
                  <a:pt x="147" y="494"/>
                </a:lnTo>
                <a:lnTo>
                  <a:pt x="142" y="492"/>
                </a:lnTo>
                <a:lnTo>
                  <a:pt x="136" y="489"/>
                </a:lnTo>
                <a:lnTo>
                  <a:pt x="131" y="486"/>
                </a:lnTo>
                <a:lnTo>
                  <a:pt x="125" y="482"/>
                </a:lnTo>
                <a:lnTo>
                  <a:pt x="120" y="479"/>
                </a:lnTo>
                <a:lnTo>
                  <a:pt x="115" y="476"/>
                </a:lnTo>
                <a:lnTo>
                  <a:pt x="110" y="472"/>
                </a:lnTo>
                <a:lnTo>
                  <a:pt x="104" y="468"/>
                </a:lnTo>
                <a:lnTo>
                  <a:pt x="100" y="465"/>
                </a:lnTo>
                <a:lnTo>
                  <a:pt x="95" y="461"/>
                </a:lnTo>
                <a:lnTo>
                  <a:pt x="90" y="457"/>
                </a:lnTo>
                <a:lnTo>
                  <a:pt x="85" y="452"/>
                </a:lnTo>
                <a:lnTo>
                  <a:pt x="81" y="448"/>
                </a:lnTo>
                <a:lnTo>
                  <a:pt x="76" y="444"/>
                </a:lnTo>
                <a:lnTo>
                  <a:pt x="72" y="439"/>
                </a:lnTo>
                <a:lnTo>
                  <a:pt x="68" y="435"/>
                </a:lnTo>
                <a:lnTo>
                  <a:pt x="63" y="430"/>
                </a:lnTo>
                <a:lnTo>
                  <a:pt x="59" y="425"/>
                </a:lnTo>
                <a:lnTo>
                  <a:pt x="55" y="420"/>
                </a:lnTo>
                <a:lnTo>
                  <a:pt x="52" y="416"/>
                </a:lnTo>
                <a:lnTo>
                  <a:pt x="48" y="410"/>
                </a:lnTo>
                <a:lnTo>
                  <a:pt x="44" y="405"/>
                </a:lnTo>
                <a:lnTo>
                  <a:pt x="41" y="400"/>
                </a:lnTo>
                <a:lnTo>
                  <a:pt x="38" y="395"/>
                </a:lnTo>
                <a:lnTo>
                  <a:pt x="34" y="389"/>
                </a:lnTo>
                <a:lnTo>
                  <a:pt x="31" y="384"/>
                </a:lnTo>
                <a:lnTo>
                  <a:pt x="28" y="378"/>
                </a:lnTo>
                <a:lnTo>
                  <a:pt x="26" y="373"/>
                </a:lnTo>
                <a:lnTo>
                  <a:pt x="23" y="367"/>
                </a:lnTo>
                <a:lnTo>
                  <a:pt x="20" y="361"/>
                </a:lnTo>
                <a:lnTo>
                  <a:pt x="18" y="355"/>
                </a:lnTo>
                <a:lnTo>
                  <a:pt x="16" y="349"/>
                </a:lnTo>
                <a:lnTo>
                  <a:pt x="14" y="343"/>
                </a:lnTo>
                <a:lnTo>
                  <a:pt x="12" y="337"/>
                </a:lnTo>
                <a:lnTo>
                  <a:pt x="10" y="331"/>
                </a:lnTo>
                <a:lnTo>
                  <a:pt x="8" y="325"/>
                </a:lnTo>
                <a:lnTo>
                  <a:pt x="7" y="319"/>
                </a:lnTo>
                <a:lnTo>
                  <a:pt x="5" y="312"/>
                </a:lnTo>
                <a:lnTo>
                  <a:pt x="4" y="306"/>
                </a:lnTo>
                <a:lnTo>
                  <a:pt x="3" y="300"/>
                </a:lnTo>
                <a:lnTo>
                  <a:pt x="2" y="293"/>
                </a:lnTo>
                <a:lnTo>
                  <a:pt x="1" y="287"/>
                </a:lnTo>
                <a:lnTo>
                  <a:pt x="1" y="280"/>
                </a:lnTo>
                <a:lnTo>
                  <a:pt x="0" y="273"/>
                </a:lnTo>
                <a:lnTo>
                  <a:pt x="0" y="267"/>
                </a:lnTo>
                <a:lnTo>
                  <a:pt x="0" y="260"/>
                </a:lnTo>
                <a:lnTo>
                  <a:pt x="0" y="253"/>
                </a:lnTo>
                <a:lnTo>
                  <a:pt x="0" y="247"/>
                </a:lnTo>
                <a:lnTo>
                  <a:pt x="1" y="240"/>
                </a:lnTo>
                <a:lnTo>
                  <a:pt x="1" y="233"/>
                </a:lnTo>
                <a:lnTo>
                  <a:pt x="2" y="227"/>
                </a:lnTo>
                <a:lnTo>
                  <a:pt x="3" y="220"/>
                </a:lnTo>
                <a:lnTo>
                  <a:pt x="4" y="214"/>
                </a:lnTo>
                <a:lnTo>
                  <a:pt x="5" y="208"/>
                </a:lnTo>
                <a:lnTo>
                  <a:pt x="7" y="201"/>
                </a:lnTo>
                <a:lnTo>
                  <a:pt x="8" y="195"/>
                </a:lnTo>
                <a:lnTo>
                  <a:pt x="10" y="189"/>
                </a:lnTo>
                <a:lnTo>
                  <a:pt x="12" y="183"/>
                </a:lnTo>
                <a:lnTo>
                  <a:pt x="14" y="177"/>
                </a:lnTo>
                <a:lnTo>
                  <a:pt x="16" y="171"/>
                </a:lnTo>
                <a:lnTo>
                  <a:pt x="18" y="165"/>
                </a:lnTo>
                <a:lnTo>
                  <a:pt x="20" y="160"/>
                </a:lnTo>
                <a:lnTo>
                  <a:pt x="360" y="160"/>
                </a:lnTo>
                <a:close/>
              </a:path>
            </a:pathLst>
          </a:custGeom>
          <a:solidFill>
            <a:srgbClr val="4F7BE8">
              <a:alpha val="16000"/>
            </a:srgbClr>
          </a:solidFill>
          <a:ln/>
        </p:spPr>
        <p:txBody>
          <a:bodyPr/>
          <a:p/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11163300" y="64770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7E8DB6"/>
                </a:solidFill>
                <a:latin typeface="Microsoft YaHei"/>
                <a:ea typeface="Microsoft YaHei"/>
              </a:rPr>
              <a:t>08 / 12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609600" y="609600"/>
            <a:ext cx="10972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300">
                <a:solidFill>
                  <a:srgbClr val="8FB0FF"/>
                </a:solidFill>
                <a:latin typeface="Microsoft YaHei"/>
                <a:ea typeface="Microsoft YaHei"/>
              </a:rPr>
              <a:t>FAIRNESS BY DESIGN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609600" y="857250"/>
            <a:ext cx="109728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FFFFFF"/>
                </a:solidFill>
                <a:latin typeface="Microsoft YaHei"/>
                <a:ea typeface="Microsoft YaHei"/>
              </a:rPr>
              <a:t>三道闸门，堵住流程漏洞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609600" y="1409700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AEBCE0"/>
                </a:solidFill>
                <a:latin typeface="Microsoft YaHei"/>
                <a:ea typeface="Microsoft YaHei"/>
              </a:rPr>
              <a:t>防的不是学员，是「谁都能考、提前泄题、事后改分」这些管理缝隙。</a:t>
            </a:r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609600" y="2019300"/>
            <a:ext cx="3429000" cy="2781300"/>
          </a:xfrm>
          <a:prstGeom prst="roundRect">
            <a:avLst>
              <a:gd name="adj" fmla="val 411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857250" y="2266950"/>
            <a:ext cx="2933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8FB0FF"/>
                </a:solidFill>
                <a:latin typeface="Microsoft YaHei"/>
                <a:ea typeface="Microsoft YaHei"/>
              </a:rPr>
              <a:t>GATE 01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857250" y="2962275"/>
            <a:ext cx="2933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报名审核拦截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857250" y="3305175"/>
            <a:ext cx="29337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AEBCE0"/>
                </a:solidFill>
                <a:latin typeface="Microsoft YaHei"/>
                <a:ea typeface="Microsoft YaHei"/>
              </a:rPr>
              <a:t>学员先报名、管理员审核，未通过者即使拿到链接也无法开考。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857250" y="4400550"/>
            <a:ext cx="2933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7E8DB6"/>
                </a:solidFill>
                <a:latin typeface="Microsoft YaHei"/>
                <a:ea typeface="Microsoft YaHei"/>
              </a:rPr>
              <a:t>适用于分批次、分岗位的培训考核</a:t>
            </a:r>
            <a:endParaRPr/>
          </a:p>
        </p:txBody>
      </p:sp>
      <p:sp>
        <p:nvSpPr>
          <p:cNvPr id="261" name=""/>
          <p:cNvSpPr/>
          <p:nvPr/>
        </p:nvSpPr>
        <p:spPr>
          <a:xfrm rot="0" flipH="0" flipV="0">
            <a:off x="4267200" y="2019300"/>
            <a:ext cx="3429000" cy="2781300"/>
          </a:xfrm>
          <a:prstGeom prst="roundRect">
            <a:avLst>
              <a:gd name="adj" fmla="val 411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4514850" y="2266950"/>
            <a:ext cx="2933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8FB0FF"/>
                </a:solidFill>
                <a:latin typeface="Microsoft YaHei"/>
                <a:ea typeface="Microsoft YaHei"/>
              </a:rPr>
              <a:t>GATE 02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4514850" y="2962275"/>
            <a:ext cx="2933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切屏检测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4514850" y="3305175"/>
            <a:ext cx="29337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AEBCE0"/>
                </a:solidFill>
                <a:latin typeface="Microsoft YaHei"/>
                <a:ea typeface="Microsoft YaHei"/>
              </a:rPr>
              <a:t>切出页面与窗口失焦都会被记录，累计达阈值即标记异常，监考端可见。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4514850" y="4400550"/>
            <a:ext cx="2933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7E8DB6"/>
                </a:solidFill>
                <a:latin typeface="Microsoft YaHei"/>
                <a:ea typeface="Microsoft YaHei"/>
              </a:rPr>
              <a:t>异常可复核，不自动判作弊</a:t>
            </a:r>
            <a:endParaRPr/>
          </a:p>
        </p:txBody>
      </p:sp>
      <p:sp>
        <p:nvSpPr>
          <p:cNvPr id="266" name=""/>
          <p:cNvSpPr/>
          <p:nvPr/>
        </p:nvSpPr>
        <p:spPr>
          <a:xfrm rot="0" flipH="0" flipV="0">
            <a:off x="7924800" y="2019300"/>
            <a:ext cx="3429000" cy="2781300"/>
          </a:xfrm>
          <a:prstGeom prst="roundRect">
            <a:avLst>
              <a:gd name="adj" fmla="val 4110"/>
            </a:avLst>
          </a:prstGeom>
          <a:solidFill>
            <a:srgbClr val="4F7BE8">
              <a:alpha val="22000"/>
            </a:srgbClr>
          </a:solidFill>
          <a:ln w="12700">
            <a:solidFill>
              <a:srgbClr val="8FB0FF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8172450" y="2266950"/>
            <a:ext cx="2933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C9D6F5"/>
                </a:solidFill>
                <a:latin typeface="Microsoft YaHei"/>
                <a:ea typeface="Microsoft YaHei"/>
              </a:rPr>
              <a:t>GATE 03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8172450" y="2962275"/>
            <a:ext cx="2933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成绩发布闸门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8172450" y="3305175"/>
            <a:ext cx="29337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D6E0F7"/>
                </a:solidFill>
                <a:latin typeface="Microsoft YaHei"/>
                <a:ea typeface="Microsoft YaHei"/>
              </a:rPr>
              <a:t>成绩与解析默认不发布，交卷后只显示状态；管理员确认后才对学员可见。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8172450" y="4400550"/>
            <a:ext cx="2933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A9BCE8"/>
                </a:solidFill>
                <a:latin typeface="Microsoft YaHei"/>
                <a:ea typeface="Microsoft YaHei"/>
              </a:rPr>
              <a:t>同一场考试可分批参考，互不泄题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271" name="" descr="&lt;Slide style={{ width: 1280, height: 720, background: '#FFFFFF', padding: 64, position: 'relative' }}&gt;&#10;  &lt;Box style={{ flexDirection: 'column' }}&gt;&#10;    &lt;Text style={{ fontSize: 13, color: '#4F7BE8', letterSpacing: 4, fontWeight: 'bold' }}&gt;FROM SCORES TO INSIGHT&lt;/Text&gt;&#10;    &lt;Text style={{ fontSize: 38, fontWeight: 'bold', color: '#1B2A5B', marginTop: 10 }}&gt;考完不是终点，是下一步教学的起点&lt;/Text&gt;&#10;&#10;    &lt;Box style={{ flexDirection: 'row', gap: 36, marginTop: 30, alignItems: 'flex-start' }}&gt;&#10;      &lt;Box style={{ flexDirection: 'column', gap: 10 }}&gt;&#10;        &lt;Image src=&quot;assets/ui_dashboard.png&quot; style={{ width: 680, height: 383, borderRadius: 10, border: '1px solid #E2E6F0', objectFit: 'cover' }} /&gt;&#10;        &lt;Text style={{ fontSize: 12, color: '#98A2B3' }}&gt;首页概览：12 项指标实时聚合，含待办提醒&lt;/Text&gt;&#10;      &lt;/Box&gt;&#10;&#10;      &lt;Box style={{ width: 436, flexDirection: 'column', gap: 16 }}&gt;&#10;        &lt;Box style={{ background: '#F4F6FB', borderRadius: 10, padding: 20 }}&gt;&#10;          &lt;Text style={{ fontSize: 15, fontWeight: 'bold', color: '#1B2A5B' }}&gt;统计：看懂这场考得怎么样&lt;/Text&gt;&#10;          &lt;Text style={{ fontSize: 13, color: '#4A5262', lineHeight: 1.65, marginTop: 6 }}&gt;参考人数、及格率、平均分、分数段分布与排名，按考试计划一键查看。&lt;/Text&gt;&#10;        &lt;/Box&gt;&#10;        &lt;Box style={{ background: '#F4F6FB', borderRadius: 10, padding: 20 }}&gt;&#10;          &lt;Text style={{ fontSize: 15, fontWeight: 'bold', color: '#1B2A5B' }}&gt;分析：看出哪道题该重讲&lt;/Text&gt;&#10;          &lt;Text style={{ fontSize: 13, color: '#4A5262', lineHeight: 1.65, marginTop: 6 }}&gt;按题型与题目统计正确率，难度偏高的题目直接定位到知识点。&lt;/Text&gt;&#10;        &lt;/Box&gt;&#10;        &lt;Box style={{ background: '#2F4FA0', borderRadius: 10, padding: 20 }}&gt;&#10;          &lt;Text style={{ fontSize: 15, fontWeight: 'bold', color: '#FFFFFF' }}&gt;闭环：把结论变成下一轮题库调整&lt;/Text&gt;&#10;          &lt;Text style={{ fontSize: 13, color: '#C9D6F5', lineHeight: 1.65, marginTop: 6 }}&gt;低正确率题目可在题库中修订或替换，下一次组卷自然生效。&lt;/Text&gt;&#10;        &lt;/Box&gt;&#10;      &lt;/Box&gt;&#10;    &lt;/Box&gt;&#10;  &lt;/Box&gt;&#10;&#10;  &lt;Box style={{ position: 'absolute', right: 64, bottom: 24 }}&gt;&#10;    &lt;Text style={{ fontSize: 13, color: '#98A2B3' }}&gt;09 / 1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609600" y="609600"/>
            <a:ext cx="10972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300">
                <a:solidFill>
                  <a:srgbClr val="4F7BE8"/>
                </a:solidFill>
                <a:latin typeface="Microsoft YaHei"/>
                <a:ea typeface="Microsoft YaHei"/>
              </a:rPr>
              <a:t>FROM SCORES TO INSIGHT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609600" y="857250"/>
            <a:ext cx="109728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>
                <a:solidFill>
                  <a:srgbClr val="1B2A5B"/>
                </a:solidFill>
                <a:latin typeface="Microsoft YaHei"/>
                <a:ea typeface="Microsoft YaHei"/>
              </a:rPr>
              <a:t>考完不是终点，是下一步教学的起点</a:t>
            </a:r>
            <a:endParaRPr/>
          </a:p>
        </p:txBody>
      </p:sp>
      <p:sp>
        <p:nvSpPr>
          <p:cNvPr id="275" name=""/>
          <p:cNvSpPr/>
          <p:nvPr/>
        </p:nvSpPr>
        <p:spPr>
          <a:xfrm rot="0" flipH="0" flipV="0">
            <a:off x="609600" y="1581150"/>
            <a:ext cx="6477000" cy="3648075"/>
          </a:xfrm>
          <a:prstGeom prst="rect">
            <a:avLst/>
          </a:prstGeom>
          <a:ln w="12700">
            <a:solidFill>
              <a:srgbClr val="E2E6F0"/>
            </a:solidFill>
            <a:prstDash val="solid"/>
          </a:ln>
        </p:spPr>
        <p:txBody>
          <a:bodyPr/>
          <a:p/>
        </p:txBody>
      </p:sp>
      <p:pic>
        <p:nvPicPr>
          <p:cNvPr id="276" name=""/>
          <p:cNvPicPr>
            <a:picLocks noChangeAspect="1"/>
          </p:cNvPicPr>
          <p:nvPr/>
        </p:nvPicPr>
        <p:blipFill>
          <a:blip r:embed="rId1"/>
          <a:srcRect l="65" t="0" r="65" b="0"/>
          <a:stretch>
            <a:fillRect/>
          </a:stretch>
        </p:blipFill>
        <p:spPr>
          <a:xfrm rot="0" flipH="0" flipV="0">
            <a:off x="609600" y="1581150"/>
            <a:ext cx="6477000" cy="3648075"/>
          </a:xfrm>
          <a:prstGeom prst="roundRect">
            <a:avLst>
              <a:gd name="adj" fmla="val 2611"/>
            </a:avLst>
          </a:prstGeom>
          <a:ln/>
        </p:spPr>
      </p:pic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609600" y="5324475"/>
            <a:ext cx="6477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8A2B3"/>
                </a:solidFill>
                <a:latin typeface="Microsoft YaHei"/>
                <a:ea typeface="Microsoft YaHei"/>
              </a:rPr>
              <a:t>首页概览：</a:t>
            </a:r>
            <a:r>
              <a:rPr lang="en-US" sz="900">
                <a:solidFill>
                  <a:srgbClr val="98A2B3"/>
                </a:solidFill>
                <a:latin typeface="Microsoft YaHei"/>
                <a:ea typeface="Microsoft YaHei"/>
              </a:rPr>
              <a:t>12 </a:t>
            </a:r>
            <a:r>
              <a:rPr lang="zh-CN" sz="900">
                <a:solidFill>
                  <a:srgbClr val="98A2B3"/>
                </a:solidFill>
                <a:latin typeface="Microsoft YaHei"/>
                <a:ea typeface="Microsoft YaHei"/>
              </a:rPr>
              <a:t>项指标实时聚合，含待办提醒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7429500" y="1581150"/>
            <a:ext cx="4152900" cy="1104900"/>
          </a:xfrm>
          <a:prstGeom prst="roundRect">
            <a:avLst>
              <a:gd name="adj" fmla="val 8621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7620000" y="1771650"/>
            <a:ext cx="3771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B2A5B"/>
                </a:solidFill>
                <a:latin typeface="Microsoft YaHei"/>
                <a:ea typeface="Microsoft YaHei"/>
              </a:rPr>
              <a:t>统计：看懂这场考得怎么样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7620000" y="2000250"/>
            <a:ext cx="377190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75">
                <a:solidFill>
                  <a:srgbClr val="4A5262"/>
                </a:solidFill>
                <a:latin typeface="Microsoft YaHei"/>
                <a:ea typeface="Microsoft YaHei"/>
              </a:rPr>
              <a:t>参考人数、及格率、平均分、分数段分布与排名，按考试计划一键查看。</a:t>
            </a:r>
            <a:endParaRPr/>
          </a:p>
        </p:txBody>
      </p:sp>
      <p:sp>
        <p:nvSpPr>
          <p:cNvPr id="281" name=""/>
          <p:cNvSpPr/>
          <p:nvPr/>
        </p:nvSpPr>
        <p:spPr>
          <a:xfrm rot="0" flipH="0" flipV="0">
            <a:off x="7429500" y="2838450"/>
            <a:ext cx="4152900" cy="857250"/>
          </a:xfrm>
          <a:prstGeom prst="roundRect">
            <a:avLst>
              <a:gd name="adj" fmla="val 11111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7620000" y="3028950"/>
            <a:ext cx="3771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B2A5B"/>
                </a:solidFill>
                <a:latin typeface="Microsoft YaHei"/>
                <a:ea typeface="Microsoft YaHei"/>
              </a:rPr>
              <a:t>分析：看出哪道题该重讲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7620000" y="3257550"/>
            <a:ext cx="3771900" cy="2476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75">
                <a:solidFill>
                  <a:srgbClr val="4A5262"/>
                </a:solidFill>
                <a:latin typeface="Microsoft YaHei"/>
                <a:ea typeface="Microsoft YaHei"/>
              </a:rPr>
              <a:t>按题型与题目统计正确率，难度偏高的题目直接定位到知识点。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7429500" y="3848100"/>
            <a:ext cx="4152900" cy="857250"/>
          </a:xfrm>
          <a:prstGeom prst="roundRect">
            <a:avLst>
              <a:gd name="adj" fmla="val 11111"/>
            </a:avLst>
          </a:prstGeom>
          <a:solidFill>
            <a:srgbClr val="2F4FA0"/>
          </a:solidFill>
          <a:ln/>
        </p:spPr>
        <p:txBody>
          <a:bodyPr/>
          <a:p/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7620000" y="4038600"/>
            <a:ext cx="3771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闭环：把结论变成下一轮题库调整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7620000" y="4267200"/>
            <a:ext cx="3771900" cy="2476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75">
                <a:solidFill>
                  <a:srgbClr val="C9D6F5"/>
                </a:solidFill>
                <a:latin typeface="Microsoft YaHei"/>
                <a:ea typeface="Microsoft YaHei"/>
              </a:rPr>
              <a:t>低正确率题目可在题库中修订或替换，下一次组卷自然生效。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11163300" y="64770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8A2B3"/>
                </a:solidFill>
                <a:latin typeface="Microsoft YaHei"/>
                <a:ea typeface="Microsoft YaHei"/>
              </a:rPr>
              <a:t>09 / 12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5" name="" descr="&lt;Slide style={{ width: 1280, height: 720, background: '#FFFFFF', padding: 64, position: 'relative' }}&gt;&#10;  &lt;Box style={{ flexDirection: 'column' }}&gt;&#10;    &lt;Text style={{ fontSize: 13, color: '#4F7BE8', letterSpacing: 4, fontWeight: 'bold' }}&gt;DELIVERY&lt;/Text&gt;&#10;    &lt;Text style={{ fontSize: 38, fontWeight: 'bold', color: '#1B2A5B', marginTop: 10 }}&gt;一个包交付，三种方式落地&lt;/Text&gt;&#10;&#10;    &lt;Box style={{ flexDirection: 'row', gap: 12, marginTop: 24 }}&gt;&#10;      &lt;Box style={{ background: '#F4F6FB', borderRadius: 20, paddingLeft: 14, paddingRight: 14, paddingTop: 7, paddingBottom: 7 }}&gt;&#10;        &lt;Text style={{ fontSize: 13, color: '#4A5262' }}&gt;Vue 3 + TypeScript&lt;/Text&gt;&#10;      &lt;/Box&gt;&#10;      &lt;Box style={{ background: '#F4F6FB', borderRadius: 20, paddingLeft: 14, paddingRight: 14, paddingTop: 7, paddingBottom: 7 }}&gt;&#10;        &lt;Text style={{ fontSize: 13, color: '#4A5262' }}&gt;Spring Boot 3 / Java 21&lt;/Text&gt;&#10;      &lt;/Box&gt;&#10;      &lt;Box style={{ background: '#F4F6FB', borderRadius: 20, paddingLeft: 14, paddingRight: 14, paddingTop: 7, paddingBottom: 7 }}&gt;&#10;        &lt;Text style={{ fontSize: 13, color: '#4A5262' }}&gt;PostgreSQL 16 / 内置 H2&lt;/Text&gt;&#10;      &lt;/Box&gt;&#10;      &lt;Box style={{ background: '#F4F6FB', borderRadius: 20, paddingLeft: 14, paddingRight: 14, paddingTop: 7, paddingBottom: 7 }}&gt;&#10;        &lt;Text style={{ fontSize: 13, color: '#4A5262' }}&gt;Flyway 自动建表&lt;/Text&gt;&#10;      &lt;/Box&gt;&#10;    &lt;/Box&gt;&#10;&#10;    &lt;Box style={{ flexDirection: 'row', gap: 20, marginTop: 30 }}&gt;&#10;      &lt;Box style={{ width: 371, height: 268, background: '#F4F6FB', borderRadius: 12, padding: 24, flexDirection: 'column', justifyContent: 'space-between', borderTop: '4px solid #2F4FA0' }}&gt;&#10;        &lt;Box style={{ flexDirection: 'column', gap: 8 }}&gt;&#10;          &lt;Text style={{ fontSize: 13, color: '#4F7BE8', letterSpacing: 2 }}&gt;方式一&lt;/Text&gt;&#10;          &lt;Text style={{ fontSize: 20, fontWeight: 'bold', color: '#1B2A5B' }}&gt;内置演示库&lt;/Text&gt;&#10;          &lt;Text style={{ fontSize: 14, color: '#4A5262', lineHeight: 1.7 }}&gt;零安装，双击启动即用。数据落在本地文件，适合演示、试用与功能验收。&lt;/Text&gt;&#10;        &lt;/Box&gt;&#10;        &lt;Text style={{ fontSize: 13, color: '#98A2B3' }}&gt;需 JDK 17+，无其他依赖&lt;/Text&gt;&#10;      &lt;/Box&gt;&#10;&#10;      &lt;Box style={{ width: 371, height: 268, background: '#F4F6FB', borderRadius: 12, padding: 24, flexDirection: 'column', justifyContent: 'space-between', borderTop: '4px solid #2F4FA0' }}&gt;&#10;        &lt;Box style={{ flexDirection: 'column', gap: 8 }}&gt;&#10;          &lt;Text style={{ fontSize: 13, color: '#4F7BE8', letterSpacing: 2 }}&gt;方式二&lt;/Text&gt;&#10;          &lt;Text style={{ fontSize: 20, fontWeight: 'bold', color: '#1B2A5B' }}&gt;接入现有数据库&lt;/Text&gt;&#10;          &lt;Text style={{ fontSize: 14, color: '#4A5262', lineHeight: 1.7 }}&gt;填写主机、库名与账号即可启动，表结构由迁移脚本自动创建，适合正式环境。&lt;/Text&gt;&#10;        &lt;/Box&gt;&#10;        &lt;Text style={{ fontSize: 13, color: '#98A2B3' }}&gt;需 PostgreSQL，支持迁移升级&lt;/Text&gt;&#10;      &lt;/Box&gt;&#10;&#10;      &lt;Box style={{ width: 371, height: 268, background: '#F4F6FB', borderRadius: 12, padding: 24, flexDirection: 'column', justifyContent: 'space-between', borderTop: '4px solid #1B2A5B' }}&gt;&#10;        &lt;Box style={{ flexDirection: 'column', gap: 8 }}&gt;&#10;          &lt;Text style={{ fontSize: 13, color: '#4F7BE8', letterSpacing: 2 }}&gt;方式三&lt;/Text&gt;&#10;          &lt;Text style={{ fontSize: 20, fontWeight: 'bold', color: '#1B2A5B' }}&gt;脚本自动部署&lt;/Text&gt;&#10;          &lt;Text style={{ fontSize: 14, color: '#4A5262', lineHeight: 1.7 }}&gt;全新服务器上由脚本安装数据库、建库建角色，随后按正式环境启动。&lt;/Text&gt;&#10;        &lt;/Box&gt;&#10;        &lt;Text style={{ fontSize: 13, color: '#98A2B3' }}&gt;适合物理机首次部署&lt;/Text&gt;&#10;      &lt;/Box&gt;&#10;    &lt;/Box&gt;&#10;  &lt;/Box&gt;&#10;&#10;  &lt;Box style={{ position: 'absolute', right: 64, bottom: 24 }}&gt;&#10;    &lt;Text style={{ fontSize: 13, color: '#98A2B3' }}&gt;10 / 1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609600" y="609600"/>
            <a:ext cx="10972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300">
                <a:solidFill>
                  <a:srgbClr val="4F7BE8"/>
                </a:solidFill>
                <a:latin typeface="Microsoft YaHei"/>
                <a:ea typeface="Microsoft YaHei"/>
              </a:rPr>
              <a:t>DELIVERY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609600" y="857250"/>
            <a:ext cx="109728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>
                <a:solidFill>
                  <a:srgbClr val="1B2A5B"/>
                </a:solidFill>
                <a:latin typeface="Microsoft YaHei"/>
                <a:ea typeface="Microsoft YaHei"/>
              </a:rPr>
              <a:t>一个包交付，三种方式落地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609600" y="1524000"/>
            <a:ext cx="1390650" cy="285750"/>
          </a:xfrm>
          <a:prstGeom prst="roundRect">
            <a:avLst>
              <a:gd name="adj" fmla="val 66667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742950" y="1590675"/>
            <a:ext cx="1123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A5262"/>
                </a:solidFill>
                <a:latin typeface="Microsoft YaHei"/>
                <a:ea typeface="Microsoft YaHei"/>
              </a:rPr>
              <a:t>Vue 3 + TypeScript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2114550" y="1524000"/>
            <a:ext cx="1638300" cy="285750"/>
          </a:xfrm>
          <a:prstGeom prst="roundRect">
            <a:avLst>
              <a:gd name="adj" fmla="val 66667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2247900" y="1590675"/>
            <a:ext cx="1371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A5262"/>
                </a:solidFill>
                <a:latin typeface="Microsoft YaHei"/>
                <a:ea typeface="Microsoft YaHei"/>
              </a:rPr>
              <a:t>Spring Boot 3 / Java 21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3867150" y="1524000"/>
            <a:ext cx="1714500" cy="285750"/>
          </a:xfrm>
          <a:prstGeom prst="roundRect">
            <a:avLst>
              <a:gd name="adj" fmla="val 66667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4000500" y="1590675"/>
            <a:ext cx="1447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A5262"/>
                </a:solidFill>
                <a:latin typeface="Microsoft YaHei"/>
                <a:ea typeface="Microsoft YaHei"/>
              </a:rPr>
              <a:t>PostgreSQL 16 / </a:t>
            </a:r>
            <a:r>
              <a:rPr lang="zh-CN" sz="975">
                <a:solidFill>
                  <a:srgbClr val="4A5262"/>
                </a:solidFill>
                <a:latin typeface="Microsoft YaHei"/>
                <a:ea typeface="Microsoft YaHei"/>
              </a:rPr>
              <a:t>内置</a:t>
            </a:r>
            <a:r>
              <a:rPr lang="en-US" sz="975">
                <a:solidFill>
                  <a:srgbClr val="4A5262"/>
                </a:solidFill>
                <a:latin typeface="Microsoft YaHei"/>
                <a:ea typeface="Microsoft YaHei"/>
              </a:rPr>
              <a:t> H2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5695950" y="1524000"/>
            <a:ext cx="1200150" cy="285750"/>
          </a:xfrm>
          <a:prstGeom prst="roundRect">
            <a:avLst>
              <a:gd name="adj" fmla="val 66667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5829300" y="1590675"/>
            <a:ext cx="933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A5262"/>
                </a:solidFill>
                <a:latin typeface="Microsoft YaHei"/>
                <a:ea typeface="Microsoft YaHei"/>
              </a:rPr>
              <a:t>Flyway </a:t>
            </a:r>
            <a:r>
              <a:rPr lang="zh-CN" sz="975">
                <a:solidFill>
                  <a:srgbClr val="4A5262"/>
                </a:solidFill>
                <a:latin typeface="Microsoft YaHei"/>
                <a:ea typeface="Microsoft YaHei"/>
              </a:rPr>
              <a:t>自动建表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609600" y="2133600"/>
            <a:ext cx="3533775" cy="2514600"/>
          </a:xfrm>
          <a:prstGeom prst="roundRect">
            <a:avLst>
              <a:gd name="adj" fmla="val 4545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28" name=""/>
          <p:cNvSpPr/>
          <p:nvPr/>
        </p:nvSpPr>
        <p:spPr>
          <a:xfrm rot="0" flipH="0" flipV="0">
            <a:off x="609600" y="2133600"/>
            <a:ext cx="3533775" cy="2514600"/>
          </a:xfrm>
          <a:custGeom>
            <a:pathLst>
              <a:path w="371" h="264">
                <a:moveTo>
                  <a:pt x="360" y="0"/>
                </a:moveTo>
                <a:cubicBezTo>
                  <a:pt x="365" y="0"/>
                  <a:pt x="370" y="4"/>
                  <a:pt x="371" y="10"/>
                </a:cubicBezTo>
                <a:cubicBezTo>
                  <a:pt x="370" y="6"/>
                  <a:pt x="367" y="4"/>
                  <a:pt x="363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359" y="0"/>
                </a:lnTo>
                <a:close/>
              </a:path>
            </a:pathLst>
          </a:custGeom>
          <a:solidFill>
            <a:srgbClr val="2F4FA0"/>
          </a:solidFill>
          <a:ln/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838200" y="2362200"/>
            <a:ext cx="3076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50">
                <a:solidFill>
                  <a:srgbClr val="4F7BE8"/>
                </a:solidFill>
                <a:latin typeface="Microsoft YaHei"/>
                <a:ea typeface="Microsoft YaHei"/>
              </a:rPr>
              <a:t>方式一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838200" y="2590800"/>
            <a:ext cx="3076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B2A5B"/>
                </a:solidFill>
                <a:latin typeface="Microsoft YaHei"/>
                <a:ea typeface="Microsoft YaHei"/>
              </a:rPr>
              <a:t>内置演示库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838200" y="2895600"/>
            <a:ext cx="30765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4A5262"/>
                </a:solidFill>
                <a:latin typeface="Microsoft YaHei"/>
                <a:ea typeface="Microsoft YaHei"/>
              </a:rPr>
              <a:t>零安装，双击启动即用。数据落在本地文件，适合演示、试用与功能验收。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838200" y="4267200"/>
            <a:ext cx="3076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8A2B3"/>
                </a:solidFill>
                <a:latin typeface="Microsoft YaHei"/>
                <a:ea typeface="Microsoft YaHei"/>
              </a:rPr>
              <a:t>需</a:t>
            </a:r>
            <a:r>
              <a:rPr lang="en-US" sz="975">
                <a:solidFill>
                  <a:srgbClr val="98A2B3"/>
                </a:solidFill>
                <a:latin typeface="Microsoft YaHei"/>
                <a:ea typeface="Microsoft YaHei"/>
              </a:rPr>
              <a:t> JDK 17+</a:t>
            </a:r>
            <a:r>
              <a:rPr lang="zh-CN" sz="975">
                <a:solidFill>
                  <a:srgbClr val="98A2B3"/>
                </a:solidFill>
                <a:latin typeface="Microsoft YaHei"/>
                <a:ea typeface="Microsoft YaHei"/>
              </a:rPr>
              <a:t>，无其他依赖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4333875" y="2133600"/>
            <a:ext cx="3533775" cy="2514600"/>
          </a:xfrm>
          <a:prstGeom prst="roundRect">
            <a:avLst>
              <a:gd name="adj" fmla="val 4545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34" name=""/>
          <p:cNvSpPr/>
          <p:nvPr/>
        </p:nvSpPr>
        <p:spPr>
          <a:xfrm rot="0" flipH="0" flipV="0">
            <a:off x="4333875" y="2133600"/>
            <a:ext cx="3533775" cy="2514600"/>
          </a:xfrm>
          <a:custGeom>
            <a:pathLst>
              <a:path w="371" h="264">
                <a:moveTo>
                  <a:pt x="360" y="0"/>
                </a:moveTo>
                <a:cubicBezTo>
                  <a:pt x="365" y="0"/>
                  <a:pt x="370" y="4"/>
                  <a:pt x="371" y="10"/>
                </a:cubicBezTo>
                <a:cubicBezTo>
                  <a:pt x="370" y="6"/>
                  <a:pt x="367" y="4"/>
                  <a:pt x="363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359" y="0"/>
                </a:lnTo>
                <a:close/>
              </a:path>
            </a:pathLst>
          </a:custGeom>
          <a:solidFill>
            <a:srgbClr val="2F4FA0"/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4562475" y="2362200"/>
            <a:ext cx="3076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50">
                <a:solidFill>
                  <a:srgbClr val="4F7BE8"/>
                </a:solidFill>
                <a:latin typeface="Microsoft YaHei"/>
                <a:ea typeface="Microsoft YaHei"/>
              </a:rPr>
              <a:t>方式二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4562475" y="2590800"/>
            <a:ext cx="3076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B2A5B"/>
                </a:solidFill>
                <a:latin typeface="Microsoft YaHei"/>
                <a:ea typeface="Microsoft YaHei"/>
              </a:rPr>
              <a:t>接入现有数据库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4562475" y="2895600"/>
            <a:ext cx="30765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4A5262"/>
                </a:solidFill>
                <a:latin typeface="Microsoft YaHei"/>
                <a:ea typeface="Microsoft YaHei"/>
              </a:rPr>
              <a:t>填写主机、库名与账号即可启动，表结构由迁移脚本自动创建，适合正式环境。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4562475" y="4267200"/>
            <a:ext cx="3076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8A2B3"/>
                </a:solidFill>
                <a:latin typeface="Microsoft YaHei"/>
                <a:ea typeface="Microsoft YaHei"/>
              </a:rPr>
              <a:t>需</a:t>
            </a:r>
            <a:r>
              <a:rPr lang="en-US" sz="975">
                <a:solidFill>
                  <a:srgbClr val="98A2B3"/>
                </a:solidFill>
                <a:latin typeface="Microsoft YaHei"/>
                <a:ea typeface="Microsoft YaHei"/>
              </a:rPr>
              <a:t> PostgreSQL</a:t>
            </a:r>
            <a:r>
              <a:rPr lang="zh-CN" sz="975">
                <a:solidFill>
                  <a:srgbClr val="98A2B3"/>
                </a:solidFill>
                <a:latin typeface="Microsoft YaHei"/>
                <a:ea typeface="Microsoft YaHei"/>
              </a:rPr>
              <a:t>，支持迁移升级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8048625" y="2133600"/>
            <a:ext cx="3533775" cy="2514600"/>
          </a:xfrm>
          <a:prstGeom prst="roundRect">
            <a:avLst>
              <a:gd name="adj" fmla="val 4545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40" name=""/>
          <p:cNvSpPr/>
          <p:nvPr/>
        </p:nvSpPr>
        <p:spPr>
          <a:xfrm rot="0" flipH="0" flipV="0">
            <a:off x="8048625" y="2133600"/>
            <a:ext cx="3533775" cy="2514600"/>
          </a:xfrm>
          <a:custGeom>
            <a:pathLst>
              <a:path w="371" h="264">
                <a:moveTo>
                  <a:pt x="360" y="0"/>
                </a:moveTo>
                <a:cubicBezTo>
                  <a:pt x="365" y="0"/>
                  <a:pt x="370" y="4"/>
                  <a:pt x="371" y="10"/>
                </a:cubicBezTo>
                <a:cubicBezTo>
                  <a:pt x="370" y="6"/>
                  <a:pt x="367" y="4"/>
                  <a:pt x="363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359" y="0"/>
                </a:lnTo>
                <a:close/>
              </a:path>
            </a:pathLst>
          </a:custGeom>
          <a:solidFill>
            <a:srgbClr val="1B2A5B"/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8277225" y="2362200"/>
            <a:ext cx="3076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50">
                <a:solidFill>
                  <a:srgbClr val="4F7BE8"/>
                </a:solidFill>
                <a:latin typeface="Microsoft YaHei"/>
                <a:ea typeface="Microsoft YaHei"/>
              </a:rPr>
              <a:t>方式三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8277225" y="2590800"/>
            <a:ext cx="3076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B2A5B"/>
                </a:solidFill>
                <a:latin typeface="Microsoft YaHei"/>
                <a:ea typeface="Microsoft YaHei"/>
              </a:rPr>
              <a:t>脚本自动部署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8277225" y="2895600"/>
            <a:ext cx="30765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4A5262"/>
                </a:solidFill>
                <a:latin typeface="Microsoft YaHei"/>
                <a:ea typeface="Microsoft YaHei"/>
              </a:rPr>
              <a:t>全新服务器上由脚本安装数据库、建库建角色，随后按正式环境启动。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8277225" y="4267200"/>
            <a:ext cx="3076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8A2B3"/>
                </a:solidFill>
                <a:latin typeface="Microsoft YaHei"/>
                <a:ea typeface="Microsoft YaHei"/>
              </a:rPr>
              <a:t>适合物理机首次部署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11163300" y="64770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8A2B3"/>
                </a:solidFill>
                <a:latin typeface="Microsoft YaHei"/>
                <a:ea typeface="Microsoft YaHei"/>
              </a:rPr>
              <a:t>10 / 12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46" name="" descr="&lt;Slide style={{ width: 1280, height: 720, background: '#FFFFFF', padding: 64, position: 'relative' }}&gt;&#10;  &lt;Box style={{ flexDirection: 'column' }}&gt;&#10;    &lt;Text style={{ fontSize: 13, color: '#4F7BE8', letterSpacing: 4, fontWeight: 'bold' }}&gt;QUALITY&lt;/Text&gt;&#10;    &lt;Text style={{ fontSize: 38, fontWeight: 'bold', color: '#1B2A5B', marginTop: 10 }}&gt;能演示，也能交付&lt;/Text&gt;&#10;&#10;    &lt;Box style={{ flexDirection: 'row', gap: 20, marginTop: 32 }}&gt;&#10;      &lt;Box style={{ width: 268, background: '#F4F6FB', borderRadius: 12, padding: 22 }}&gt;&#10;        &lt;Text style={{ fontSize: 52, fontWeight: 'bold', color: '#1B2A5B', fontFamily: 'Arial', lineHeight: 1 }}&gt;10&lt;/Text&gt;&#10;        &lt;Text style={{ fontSize: 14, color: '#4A5262', marginTop: 8 }}&gt;组全链路冒烟用例，全部通过&lt;/Text&gt;&#10;      &lt;/Box&gt;&#10;      &lt;Box style={{ width: 268, background: '#F4F6FB', borderRadius: 12, padding: 22 }}&gt;&#10;        &lt;Text style={{ fontSize: 52, fontWeight: 'bold', color: '#1B2A5B', fontFamily: 'Arial', lineHeight: 1 }}&gt;11/11&lt;/Text&gt;&#10;        &lt;Text style={{ fontSize: 14, color: '#4A5262', marginTop: 8 }}&gt;判分引擎单测通过（覆盖 6 题型）&lt;/Text&gt;&#10;      &lt;/Box&gt;&#10;      &lt;Box style={{ width: 268, background: '#F4F6FB', borderRadius: 12, padding: 22 }}&gt;&#10;        &lt;Text style={{ fontSize: 52, fontWeight: 'bold', color: '#1B2A5B', fontFamily: 'Arial', lineHeight: 1 }}&gt;87&lt;/Text&gt;&#10;        &lt;Text style={{ fontSize: 14, color: '#4A5262', marginTop: 8 }}&gt;个 REST 接口，统一响应结构&lt;/Text&gt;&#10;      &lt;/Box&gt;&#10;      &lt;Box style={{ width: 268, background: '#2F4FA0', borderRadius: 12, padding: 22 }}&gt;&#10;        &lt;Text style={{ fontSize: 52, fontWeight: 'bold', color: '#FFFFFF', fontFamily: 'Arial', lineHeight: 1 }}&gt;0&lt;/Text&gt;&#10;        &lt;Text style={{ fontSize: 14, color: '#C9D6F5', marginTop: 8 }}&gt;迁移脚本在空库上失败次数&lt;/Text&gt;&#10;      &lt;/Box&gt;&#10;    &lt;/Box&gt;&#10;&#10;    &lt;Box style={{ flexDirection: 'column', gap: 14, marginTop: 34 }}&gt;&#10;      &lt;Box style={{ flexDirection: 'row', alignItems: 'center', gap: 12 }}&gt;&#10;        &lt;Box style={{ width: 6, height: 6, borderRadius: 3, background: '#4F7BE8' }} /&gt;&#10;        &lt;Text style={{ fontSize: 15, color: '#4A5262' }}&gt;冒烟覆盖：考试主链路、系统权限、练习报名、组卷策略、成绩闸门、组织架构、批量导入、防作弊、辅助域、大纲联动&lt;/Text&gt;&#10;      &lt;/Box&gt;&#10;      &lt;Box style={{ flexDirection: 'row', alignItems: 'center', gap: 12 }}&gt;&#10;        &lt;Box style={{ width: 6, height: 6, borderRadius: 3, background: '#4F7BE8' }} /&gt;&#10;        &lt;Text style={{ fontSize: 15, color: '#4A5262' }}&gt;黑盒用例直接跑 HTTP 接口，换环境可复跑，回归成本低&lt;/Text&gt;&#10;      &lt;/Box&gt;&#10;      &lt;Box style={{ flexDirection: 'row', alignItems: 'center', gap: 12 }}&gt;&#10;        &lt;Box style={{ width: 6, height: 6, borderRadius: 3, background: '#4F7BE8' }} /&gt;&#10;        &lt;Text style={{ fontSize: 15, color: '#4A5262' }}&gt;已知边界：会话存于进程内，多节点部署需接共享存储；通知模块为占位&lt;/Text&gt;&#10;      &lt;/Box&gt;&#10;    &lt;/Box&gt;&#10;  &lt;/Box&gt;&#10;&#10;  &lt;Box style={{ position: 'absolute', right: 64, bottom: 24 }}&gt;&#10;    &lt;Text style={{ fontSize: 13, color: '#98A2B3' }}&gt;11 / 1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609600" y="609600"/>
            <a:ext cx="10972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300">
                <a:solidFill>
                  <a:srgbClr val="4F7BE8"/>
                </a:solidFill>
                <a:latin typeface="Microsoft YaHei"/>
                <a:ea typeface="Microsoft YaHei"/>
              </a:rPr>
              <a:t>QUALITY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609600" y="857250"/>
            <a:ext cx="109728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>
                <a:solidFill>
                  <a:srgbClr val="1B2A5B"/>
                </a:solidFill>
                <a:latin typeface="Microsoft YaHei"/>
                <a:ea typeface="Microsoft YaHei"/>
              </a:rPr>
              <a:t>能演示，也能交付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609600" y="1600200"/>
            <a:ext cx="2552700" cy="1257300"/>
          </a:xfrm>
          <a:prstGeom prst="roundRect">
            <a:avLst>
              <a:gd name="adj" fmla="val 9091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819150" y="1809750"/>
            <a:ext cx="21336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1B2A5B"/>
                </a:solidFill>
                <a:latin typeface="Arial"/>
                <a:ea typeface="Arial"/>
              </a:rPr>
              <a:t>10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819150" y="2486025"/>
            <a:ext cx="2133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262"/>
                </a:solidFill>
                <a:latin typeface="Microsoft YaHei"/>
                <a:ea typeface="Microsoft YaHei"/>
              </a:rPr>
              <a:t>组全链路冒烟用例，全部通过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3352800" y="1600200"/>
            <a:ext cx="2552700" cy="1257300"/>
          </a:xfrm>
          <a:prstGeom prst="roundRect">
            <a:avLst>
              <a:gd name="adj" fmla="val 9091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3562350" y="1809750"/>
            <a:ext cx="21336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1B2A5B"/>
                </a:solidFill>
                <a:latin typeface="Arial"/>
                <a:ea typeface="Arial"/>
              </a:rPr>
              <a:t>11/11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3562350" y="2486025"/>
            <a:ext cx="2133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262"/>
                </a:solidFill>
                <a:latin typeface="Microsoft YaHei"/>
                <a:ea typeface="Microsoft YaHei"/>
              </a:rPr>
              <a:t>判分引擎单测通过（覆盖</a:t>
            </a:r>
            <a:r>
              <a:rPr lang="en-US" sz="1050">
                <a:solidFill>
                  <a:srgbClr val="4A5262"/>
                </a:solidFill>
                <a:latin typeface="Microsoft YaHei"/>
                <a:ea typeface="Microsoft YaHei"/>
              </a:rPr>
              <a:t> 6 </a:t>
            </a:r>
            <a:r>
              <a:rPr lang="zh-CN" sz="1050">
                <a:solidFill>
                  <a:srgbClr val="4A5262"/>
                </a:solidFill>
                <a:latin typeface="Microsoft YaHei"/>
                <a:ea typeface="Microsoft YaHei"/>
              </a:rPr>
              <a:t>题型）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6096000" y="1600200"/>
            <a:ext cx="2552700" cy="1257300"/>
          </a:xfrm>
          <a:prstGeom prst="roundRect">
            <a:avLst>
              <a:gd name="adj" fmla="val 9091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6305550" y="1809750"/>
            <a:ext cx="21336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1B2A5B"/>
                </a:solidFill>
                <a:latin typeface="Arial"/>
                <a:ea typeface="Arial"/>
              </a:rPr>
              <a:t>87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6305550" y="2486025"/>
            <a:ext cx="2133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262"/>
                </a:solidFill>
                <a:latin typeface="Microsoft YaHei"/>
                <a:ea typeface="Microsoft YaHei"/>
              </a:rPr>
              <a:t>个</a:t>
            </a:r>
            <a:r>
              <a:rPr lang="en-US" sz="1050">
                <a:solidFill>
                  <a:srgbClr val="4A5262"/>
                </a:solidFill>
                <a:latin typeface="Microsoft YaHei"/>
                <a:ea typeface="Microsoft YaHei"/>
              </a:rPr>
              <a:t> REST </a:t>
            </a:r>
            <a:r>
              <a:rPr lang="zh-CN" sz="1050">
                <a:solidFill>
                  <a:srgbClr val="4A5262"/>
                </a:solidFill>
                <a:latin typeface="Microsoft YaHei"/>
                <a:ea typeface="Microsoft YaHei"/>
              </a:rPr>
              <a:t>接口，统一响应结构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8839200" y="1600200"/>
            <a:ext cx="2552700" cy="1257300"/>
          </a:xfrm>
          <a:prstGeom prst="roundRect">
            <a:avLst>
              <a:gd name="adj" fmla="val 9091"/>
            </a:avLst>
          </a:prstGeom>
          <a:solidFill>
            <a:srgbClr val="2F4FA0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9048750" y="1809750"/>
            <a:ext cx="21336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FFFFFF"/>
                </a:solidFill>
                <a:latin typeface="Arial"/>
                <a:ea typeface="Arial"/>
              </a:rPr>
              <a:t>0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9048750" y="2486025"/>
            <a:ext cx="2133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9D6F5"/>
                </a:solidFill>
                <a:latin typeface="Microsoft YaHei"/>
                <a:ea typeface="Microsoft YaHei"/>
              </a:rPr>
              <a:t>迁移脚本在空库上失败次数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609600" y="32385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4F7BE8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781050" y="3181350"/>
            <a:ext cx="7572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262"/>
                </a:solidFill>
                <a:latin typeface="Microsoft YaHei"/>
                <a:ea typeface="Microsoft YaHei"/>
              </a:rPr>
              <a:t>冒烟覆盖：考试主链路、系统权限、练习报名、组卷策略、成绩闸门、组织架构、批量导入、防作弊、辅助域、大纲联动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609600" y="35433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4F7BE8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781050" y="3486150"/>
            <a:ext cx="3600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262"/>
                </a:solidFill>
                <a:latin typeface="Microsoft YaHei"/>
                <a:ea typeface="Microsoft YaHei"/>
              </a:rPr>
              <a:t>黑盒用例直接跑</a:t>
            </a:r>
            <a:r>
              <a:rPr lang="en-US" sz="1125">
                <a:solidFill>
                  <a:srgbClr val="4A5262"/>
                </a:solidFill>
                <a:latin typeface="Microsoft YaHei"/>
                <a:ea typeface="Microsoft YaHei"/>
              </a:rPr>
              <a:t> HTTP </a:t>
            </a:r>
            <a:r>
              <a:rPr lang="zh-CN" sz="1125">
                <a:solidFill>
                  <a:srgbClr val="4A5262"/>
                </a:solidFill>
                <a:latin typeface="Microsoft YaHei"/>
                <a:ea typeface="Microsoft YaHei"/>
              </a:rPr>
              <a:t>接口，换环境可复跑，回归成本低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609600" y="38481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4F7BE8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781050" y="3790950"/>
            <a:ext cx="4572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262"/>
                </a:solidFill>
                <a:latin typeface="Microsoft YaHei"/>
                <a:ea typeface="Microsoft YaHei"/>
              </a:rPr>
              <a:t>已知边界：会话存于进程内，多节点部署需接共享存储；通知模块为占位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11163300" y="64770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8A2B3"/>
                </a:solidFill>
                <a:latin typeface="Microsoft YaHei"/>
                <a:ea typeface="Microsoft YaHei"/>
              </a:rPr>
              <a:t>11 / 12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69" name="" descr="&lt;Slide style={{ width: 1280, height: 720, background: 'linear-gradient(135deg, #1B2A5B 0%, #2F4FA0 100%)', padding: 64, position: 'relative', overflow: 'hidden' }}&gt;&#10;  &lt;Box style={{ position: 'absolute', left: -180, bottom: -220, width: 620, height: 620, borderRadius: 310, background: 'rgba(255,255,255,0.05)' }} /&gt;&#10;&#10;  &lt;Box style={{ flexDirection: 'column', position: 'relative', zIndex: 1 }}&gt;&#10;    &lt;Text style={{ fontSize: 13, color: '#8FB0FF', letterSpacing: 4, fontWeight: 'bold' }}&gt;NEXT&lt;/Text&gt;&#10;    &lt;Text style={{ fontSize: 46, fontWeight: 'bold', color: '#FFFFFF', marginTop: 14, lineHeight: 1.3 }}&gt;先跑通一场真实考试，&lt;br /&gt;再谈规模化&lt;/Text&gt;&#10;    &lt;Box style={{ width: 96, height: 4, background: '#4F7BE8', marginTop: 26 }} /&gt;&#10;&#10;    &lt;Box style={{ flexDirection: 'row', gap: 24, marginTop: 44 }}&gt;&#10;      &lt;Box style={{ width: 340, flexDirection: 'column', gap: 8 }}&gt;&#10;        &lt;Text style={{ fontSize: 26, fontWeight: 'bold', color: '#FFFFFF', fontFamily: 'Arial' }}&gt;01&lt;/Text&gt;&#10;        &lt;Text style={{ fontSize: 16, fontWeight: 'bold', color: '#DCE6FF' }}&gt;用现有题库试跑&lt;/Text&gt;&#10;        &lt;Text style={{ fontSize: 13, color: '#AEBCE0', lineHeight: 1.7 }}&gt;导入 1—2 个大纲与题库，组一套正式试卷，跑 20 人以内的考试。&lt;/Text&gt;&#10;      &lt;/Box&gt;&#10;      &lt;Box style={{ width: 340, flexDirection: 'column', gap: 8 }}&gt;&#10;        &lt;Text style={{ fontSize: 26, fontWeight: 'bold', color: '#FFFFFF', fontFamily: 'Arial' }}&gt;02&lt;/Text&gt;&#10;        &lt;Text style={{ fontSize: 16, fontWeight: 'bold', color: '#DCE6FF' }}&gt;对齐组织与权限&lt;/Text&gt;&#10;        &lt;Text style={{ fontSize: 13, color: '#AEBCE0', lineHeight: 1.7 }}&gt;按部门维护组织与账号，明确谁命题、谁监考、谁阅卷。&lt;/Text&gt;&#10;      &lt;/Box&gt;&#10;      &lt;Box style={{ width: 340, flexDirection: 'column', gap: 8 }}&gt;&#10;        &lt;Text style={{ fontSize: 26, fontWeight: 'bold', color: '#FFFFFF', fontFamily: 'Arial' }}&gt;03&lt;/Text&gt;&#10;        &lt;Text style={{ fontSize: 16, fontWeight: 'bold', color: '#DCE6FF' }}&gt;再决定部署形态&lt;/Text&gt;&#10;        &lt;Text style={{ fontSize: 13, color: '#AEBCE0', lineHeight: 1.7 }}&gt;先内置库试用，确认流程后切正式数据库，数据可重新初始化。&lt;/Text&gt;&#10;      &lt;/Box&gt;&#10;    &lt;/Box&gt;&#10;&#10;    &lt;Box style={{ marginTop: 56, background: 'rgba(255,255,255,0.1)', borderRadius: 10, paddingLeft: 24, paddingRight: 24, paddingTop: 18, paddingBottom: 18, flexDirection: 'row', alignItems: 'center', justifyContent: 'space-between' }}&gt;&#10;      &lt;Text style={{ fontSize: 16, color: '#FFFFFF' }}&gt;考试系统 · 一体化在线考试平台&lt;/Text&gt;&#10;      &lt;Text style={{ fontSize: 14, color: '#AEBCE0' }}&gt;演示环境：localhost:8080　|　操作手册见《考试系统 操作手册》&lt;/Text&gt;&#10;    &lt;/Box&gt;&#10;  &lt;/Box&gt;&#10;&#10;  &lt;Box style={{ position: 'absolute', right: 64, bottom: 24 }}&gt;&#10;    &lt;Text style={{ fontSize: 13, color: '#8C9BC4' }}&gt;12 / 1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2A5B"/>
              </a:gs>
              <a:gs pos="100000">
                <a:srgbClr val="2F4FA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1" name=""/>
          <p:cNvSpPr/>
          <p:nvPr/>
        </p:nvSpPr>
        <p:spPr>
          <a:xfrm rot="0" flipH="0" flipV="0">
            <a:off x="-1714500" y="3048000"/>
            <a:ext cx="5905500" cy="5905500"/>
          </a:xfrm>
          <a:custGeom>
            <a:pathLst>
              <a:path w="620" h="620">
                <a:moveTo>
                  <a:pt x="318" y="0"/>
                </a:moveTo>
                <a:lnTo>
                  <a:pt x="326" y="0"/>
                </a:lnTo>
                <a:lnTo>
                  <a:pt x="334" y="1"/>
                </a:lnTo>
                <a:lnTo>
                  <a:pt x="342" y="2"/>
                </a:lnTo>
                <a:lnTo>
                  <a:pt x="349" y="2"/>
                </a:lnTo>
                <a:lnTo>
                  <a:pt x="357" y="4"/>
                </a:lnTo>
                <a:lnTo>
                  <a:pt x="365" y="5"/>
                </a:lnTo>
                <a:lnTo>
                  <a:pt x="372" y="6"/>
                </a:lnTo>
                <a:lnTo>
                  <a:pt x="380" y="8"/>
                </a:lnTo>
                <a:lnTo>
                  <a:pt x="387" y="10"/>
                </a:lnTo>
                <a:lnTo>
                  <a:pt x="395" y="12"/>
                </a:lnTo>
                <a:lnTo>
                  <a:pt x="402" y="14"/>
                </a:lnTo>
                <a:lnTo>
                  <a:pt x="409" y="16"/>
                </a:lnTo>
                <a:lnTo>
                  <a:pt x="417" y="19"/>
                </a:lnTo>
                <a:lnTo>
                  <a:pt x="424" y="22"/>
                </a:lnTo>
                <a:lnTo>
                  <a:pt x="431" y="24"/>
                </a:lnTo>
                <a:lnTo>
                  <a:pt x="438" y="27"/>
                </a:lnTo>
                <a:lnTo>
                  <a:pt x="444" y="31"/>
                </a:lnTo>
                <a:lnTo>
                  <a:pt x="451" y="34"/>
                </a:lnTo>
                <a:lnTo>
                  <a:pt x="458" y="37"/>
                </a:lnTo>
                <a:lnTo>
                  <a:pt x="464" y="41"/>
                </a:lnTo>
                <a:lnTo>
                  <a:pt x="471" y="45"/>
                </a:lnTo>
                <a:lnTo>
                  <a:pt x="477" y="49"/>
                </a:lnTo>
                <a:lnTo>
                  <a:pt x="483" y="53"/>
                </a:lnTo>
                <a:lnTo>
                  <a:pt x="489" y="57"/>
                </a:lnTo>
                <a:lnTo>
                  <a:pt x="495" y="62"/>
                </a:lnTo>
                <a:lnTo>
                  <a:pt x="501" y="66"/>
                </a:lnTo>
                <a:lnTo>
                  <a:pt x="507" y="71"/>
                </a:lnTo>
                <a:lnTo>
                  <a:pt x="513" y="76"/>
                </a:lnTo>
                <a:lnTo>
                  <a:pt x="518" y="81"/>
                </a:lnTo>
                <a:lnTo>
                  <a:pt x="524" y="86"/>
                </a:lnTo>
                <a:lnTo>
                  <a:pt x="529" y="91"/>
                </a:lnTo>
                <a:lnTo>
                  <a:pt x="534" y="96"/>
                </a:lnTo>
                <a:lnTo>
                  <a:pt x="539" y="102"/>
                </a:lnTo>
                <a:lnTo>
                  <a:pt x="544" y="107"/>
                </a:lnTo>
                <a:lnTo>
                  <a:pt x="549" y="113"/>
                </a:lnTo>
                <a:lnTo>
                  <a:pt x="554" y="119"/>
                </a:lnTo>
                <a:lnTo>
                  <a:pt x="558" y="125"/>
                </a:lnTo>
                <a:lnTo>
                  <a:pt x="563" y="131"/>
                </a:lnTo>
                <a:lnTo>
                  <a:pt x="567" y="137"/>
                </a:lnTo>
                <a:lnTo>
                  <a:pt x="571" y="143"/>
                </a:lnTo>
                <a:lnTo>
                  <a:pt x="575" y="149"/>
                </a:lnTo>
                <a:lnTo>
                  <a:pt x="579" y="156"/>
                </a:lnTo>
                <a:lnTo>
                  <a:pt x="583" y="162"/>
                </a:lnTo>
                <a:lnTo>
                  <a:pt x="586" y="169"/>
                </a:lnTo>
                <a:lnTo>
                  <a:pt x="589" y="176"/>
                </a:lnTo>
                <a:lnTo>
                  <a:pt x="593" y="182"/>
                </a:lnTo>
                <a:lnTo>
                  <a:pt x="596" y="189"/>
                </a:lnTo>
                <a:lnTo>
                  <a:pt x="598" y="196"/>
                </a:lnTo>
                <a:lnTo>
                  <a:pt x="601" y="203"/>
                </a:lnTo>
                <a:lnTo>
                  <a:pt x="604" y="211"/>
                </a:lnTo>
                <a:lnTo>
                  <a:pt x="606" y="218"/>
                </a:lnTo>
                <a:lnTo>
                  <a:pt x="608" y="225"/>
                </a:lnTo>
                <a:lnTo>
                  <a:pt x="610" y="233"/>
                </a:lnTo>
                <a:lnTo>
                  <a:pt x="612" y="240"/>
                </a:lnTo>
                <a:lnTo>
                  <a:pt x="614" y="248"/>
                </a:lnTo>
                <a:lnTo>
                  <a:pt x="615" y="255"/>
                </a:lnTo>
                <a:lnTo>
                  <a:pt x="616" y="263"/>
                </a:lnTo>
                <a:lnTo>
                  <a:pt x="618" y="271"/>
                </a:lnTo>
                <a:lnTo>
                  <a:pt x="618" y="278"/>
                </a:lnTo>
                <a:lnTo>
                  <a:pt x="619" y="286"/>
                </a:lnTo>
                <a:lnTo>
                  <a:pt x="620" y="294"/>
                </a:lnTo>
                <a:lnTo>
                  <a:pt x="620" y="302"/>
                </a:lnTo>
                <a:lnTo>
                  <a:pt x="620" y="310"/>
                </a:lnTo>
                <a:lnTo>
                  <a:pt x="620" y="318"/>
                </a:lnTo>
                <a:lnTo>
                  <a:pt x="620" y="326"/>
                </a:lnTo>
                <a:lnTo>
                  <a:pt x="619" y="334"/>
                </a:lnTo>
                <a:lnTo>
                  <a:pt x="618" y="342"/>
                </a:lnTo>
                <a:lnTo>
                  <a:pt x="618" y="349"/>
                </a:lnTo>
                <a:lnTo>
                  <a:pt x="616" y="357"/>
                </a:lnTo>
                <a:lnTo>
                  <a:pt x="615" y="365"/>
                </a:lnTo>
                <a:lnTo>
                  <a:pt x="614" y="372"/>
                </a:lnTo>
                <a:lnTo>
                  <a:pt x="612" y="380"/>
                </a:lnTo>
                <a:lnTo>
                  <a:pt x="610" y="387"/>
                </a:lnTo>
                <a:lnTo>
                  <a:pt x="608" y="395"/>
                </a:lnTo>
                <a:lnTo>
                  <a:pt x="607" y="400"/>
                </a:lnTo>
                <a:lnTo>
                  <a:pt x="180" y="400"/>
                </a:lnTo>
                <a:lnTo>
                  <a:pt x="180" y="29"/>
                </a:lnTo>
                <a:lnTo>
                  <a:pt x="182" y="27"/>
                </a:lnTo>
                <a:lnTo>
                  <a:pt x="189" y="24"/>
                </a:lnTo>
                <a:lnTo>
                  <a:pt x="196" y="22"/>
                </a:lnTo>
                <a:lnTo>
                  <a:pt x="203" y="19"/>
                </a:lnTo>
                <a:lnTo>
                  <a:pt x="211" y="16"/>
                </a:lnTo>
                <a:lnTo>
                  <a:pt x="218" y="14"/>
                </a:lnTo>
                <a:lnTo>
                  <a:pt x="225" y="12"/>
                </a:lnTo>
                <a:lnTo>
                  <a:pt x="233" y="10"/>
                </a:lnTo>
                <a:lnTo>
                  <a:pt x="240" y="8"/>
                </a:lnTo>
                <a:lnTo>
                  <a:pt x="248" y="6"/>
                </a:lnTo>
                <a:lnTo>
                  <a:pt x="255" y="5"/>
                </a:lnTo>
                <a:lnTo>
                  <a:pt x="263" y="4"/>
                </a:lnTo>
                <a:lnTo>
                  <a:pt x="271" y="2"/>
                </a:lnTo>
                <a:lnTo>
                  <a:pt x="278" y="2"/>
                </a:lnTo>
                <a:lnTo>
                  <a:pt x="286" y="1"/>
                </a:lnTo>
                <a:lnTo>
                  <a:pt x="294" y="0"/>
                </a:lnTo>
                <a:lnTo>
                  <a:pt x="302" y="0"/>
                </a:lnTo>
                <a:lnTo>
                  <a:pt x="310" y="0"/>
                </a:lnTo>
                <a:close/>
              </a:path>
            </a:pathLst>
          </a:cu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11163300" y="64770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C9BC4"/>
                </a:solidFill>
                <a:latin typeface="Microsoft YaHei"/>
                <a:ea typeface="Microsoft YaHei"/>
              </a:rPr>
              <a:t>12 / 12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609600" y="609600"/>
            <a:ext cx="10972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300">
                <a:solidFill>
                  <a:srgbClr val="8FB0FF"/>
                </a:solidFill>
                <a:latin typeface="Microsoft YaHei"/>
                <a:ea typeface="Microsoft YaHei"/>
              </a:rPr>
              <a:t>NEXT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609600" y="895350"/>
            <a:ext cx="10972800" cy="13716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3450" b="1">
                <a:solidFill>
                  <a:srgbClr val="FFFFFF"/>
                </a:solidFill>
                <a:latin typeface="Microsoft YaHei"/>
                <a:ea typeface="Microsoft YaHei"/>
              </a:rPr>
              <a:t>先跑通一场真实考试，</a:t>
            </a:r>
            <a:endParaRPr/>
          </a:p>
          <a:p>
            <a:pPr>
              <a:lnSpc>
                <a:spcPct val="130000"/>
              </a:lnSpc>
            </a:pPr>
            <a:r>
              <a:rPr lang="zh-CN" sz="3450" b="1">
                <a:solidFill>
                  <a:srgbClr val="FFFFFF"/>
                </a:solidFill>
                <a:latin typeface="Microsoft YaHei"/>
                <a:ea typeface="Microsoft YaHei"/>
              </a:rPr>
              <a:t>再谈规模化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609600" y="2514600"/>
            <a:ext cx="914400" cy="38100"/>
          </a:xfrm>
          <a:prstGeom prst="rect">
            <a:avLst/>
          </a:prstGeom>
          <a:solidFill>
            <a:srgbClr val="4F7BE8"/>
          </a:solidFill>
          <a:ln/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609600" y="2971800"/>
            <a:ext cx="3238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Arial"/>
                <a:ea typeface="Arial"/>
              </a:rPr>
              <a:t>01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609600" y="3352800"/>
            <a:ext cx="3238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DCE6FF"/>
                </a:solidFill>
                <a:latin typeface="Microsoft YaHei"/>
                <a:ea typeface="Microsoft YaHei"/>
              </a:rPr>
              <a:t>用现有题库试跑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609600" y="3619500"/>
            <a:ext cx="32385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75">
                <a:solidFill>
                  <a:srgbClr val="AEBCE0"/>
                </a:solidFill>
                <a:latin typeface="Microsoft YaHei"/>
                <a:ea typeface="Microsoft YaHei"/>
              </a:rPr>
              <a:t>导入</a:t>
            </a:r>
            <a:r>
              <a:rPr lang="en-US" sz="975">
                <a:solidFill>
                  <a:srgbClr val="AEBCE0"/>
                </a:solidFill>
                <a:latin typeface="Microsoft YaHei"/>
                <a:ea typeface="Microsoft YaHei"/>
              </a:rPr>
              <a:t> 1—2 </a:t>
            </a:r>
            <a:r>
              <a:rPr lang="zh-CN" sz="975">
                <a:solidFill>
                  <a:srgbClr val="AEBCE0"/>
                </a:solidFill>
                <a:latin typeface="Microsoft YaHei"/>
                <a:ea typeface="Microsoft YaHei"/>
              </a:rPr>
              <a:t>个大纲与题库，组一套正式试卷，跑</a:t>
            </a:r>
            <a:r>
              <a:rPr lang="en-US" sz="975">
                <a:solidFill>
                  <a:srgbClr val="AEBCE0"/>
                </a:solidFill>
                <a:latin typeface="Microsoft YaHei"/>
                <a:ea typeface="Microsoft YaHei"/>
              </a:rPr>
              <a:t> 20 </a:t>
            </a:r>
            <a:r>
              <a:rPr lang="zh-CN" sz="975">
                <a:solidFill>
                  <a:srgbClr val="AEBCE0"/>
                </a:solidFill>
                <a:latin typeface="Microsoft YaHei"/>
                <a:ea typeface="Microsoft YaHei"/>
              </a:rPr>
              <a:t>人以内的考试。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4076700" y="2971800"/>
            <a:ext cx="3238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Arial"/>
                <a:ea typeface="Arial"/>
              </a:rPr>
              <a:t>02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4076700" y="3352800"/>
            <a:ext cx="3238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DCE6FF"/>
                </a:solidFill>
                <a:latin typeface="Microsoft YaHei"/>
                <a:ea typeface="Microsoft YaHei"/>
              </a:rPr>
              <a:t>对齐组织与权限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4076700" y="3619500"/>
            <a:ext cx="3238500" cy="2571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75">
                <a:solidFill>
                  <a:srgbClr val="AEBCE0"/>
                </a:solidFill>
                <a:latin typeface="Microsoft YaHei"/>
                <a:ea typeface="Microsoft YaHei"/>
              </a:rPr>
              <a:t>按部门维护组织与账号，明确谁命题、谁监考、谁阅卷。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7543800" y="2971800"/>
            <a:ext cx="3238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Arial"/>
                <a:ea typeface="Arial"/>
              </a:rPr>
              <a:t>03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7543800" y="3352800"/>
            <a:ext cx="3238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DCE6FF"/>
                </a:solidFill>
                <a:latin typeface="Microsoft YaHei"/>
                <a:ea typeface="Microsoft YaHei"/>
              </a:rPr>
              <a:t>再决定部署形态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7543800" y="3619500"/>
            <a:ext cx="32385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75">
                <a:solidFill>
                  <a:srgbClr val="AEBCE0"/>
                </a:solidFill>
                <a:latin typeface="Microsoft YaHei"/>
                <a:ea typeface="Microsoft YaHei"/>
              </a:rPr>
              <a:t>先内置库试用，确认流程后切正式数据库，数据可重新初始化。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609600" y="4667250"/>
            <a:ext cx="10972800" cy="533400"/>
          </a:xfrm>
          <a:prstGeom prst="roundRect">
            <a:avLst>
              <a:gd name="adj" fmla="val 17857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838200" y="4838700"/>
            <a:ext cx="2114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考试系统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一体化在线考试平台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7419975" y="4857750"/>
            <a:ext cx="3933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AEBCE0"/>
                </a:solidFill>
                <a:latin typeface="Microsoft YaHei"/>
                <a:ea typeface="Microsoft YaHei"/>
              </a:rPr>
              <a:t>演示环境：</a:t>
            </a:r>
            <a:r>
              <a:rPr lang="en-US" sz="1050">
                <a:solidFill>
                  <a:srgbClr val="AEBCE0"/>
                </a:solidFill>
                <a:latin typeface="Microsoft YaHei"/>
                <a:ea typeface="Microsoft YaHei"/>
              </a:rPr>
              <a:t>localhost:8080</a:t>
            </a:r>
            <a:r>
              <a:rPr lang="zh-CN" sz="1050">
                <a:solidFill>
                  <a:srgbClr val="AEBCE0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AEBCE0"/>
                </a:solidFill>
                <a:latin typeface="Microsoft YaHei"/>
                <a:ea typeface="Microsoft YaHei"/>
              </a:rPr>
              <a:t>|</a:t>
            </a:r>
            <a:r>
              <a:rPr lang="zh-CN" sz="1050">
                <a:solidFill>
                  <a:srgbClr val="AEBCE0"/>
                </a:solidFill>
                <a:latin typeface="Microsoft YaHei"/>
                <a:ea typeface="Microsoft YaHei"/>
              </a:rPr>
              <a:t>　操作手册见《考试系统</a:t>
            </a:r>
            <a:r>
              <a:rPr lang="en-US" sz="1050">
                <a:solidFill>
                  <a:srgbClr val="AEBCE0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AEBCE0"/>
                </a:solidFill>
                <a:latin typeface="Microsoft YaHei"/>
                <a:ea typeface="Microsoft YaHei"/>
              </a:rPr>
              <a:t>操作手册》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2026-10-26T11:43:33Z</dcterms:created>
  <dcterms:modified xsi:type="dcterms:W3CDTF">2026-10-26T11:43:33Z</dcterms:modified>
</cp:coreProperties>
</file>