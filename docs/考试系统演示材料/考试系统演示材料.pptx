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914400"/>
            <a:ext cx="6667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>
                <a:solidFill>
                  <a:srgbClr val="8C919C"/>
                </a:solidFill>
                <a:latin typeface="Microsoft YaHei"/>
                <a:ea typeface="Microsoft YaHei"/>
              </a:rPr>
              <a:t>产品操作演示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33500"/>
            <a:ext cx="85725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4200" b="1">
                <a:solidFill>
                  <a:srgbClr val="17191E"/>
                </a:solidFill>
                <a:latin typeface="Microsoft YaHei"/>
                <a:ea typeface="Microsoft YaHei"/>
              </a:rPr>
              <a:t>考试系统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86000"/>
            <a:ext cx="8191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4A4F5A"/>
                </a:solidFill>
                <a:latin typeface="Microsoft YaHei"/>
                <a:ea typeface="Microsoft YaHei"/>
              </a:rPr>
              <a:t>十三个动作，走完一场考试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67050"/>
            <a:ext cx="3619500" cy="1905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333375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975" b="0">
                <a:solidFill>
                  <a:srgbClr val="8C919C"/>
                </a:solidFill>
                <a:latin typeface="Microsoft YaHei"/>
                <a:ea typeface="Microsoft YaHei"/>
              </a:rPr>
              <a:t>管理员：命题、组卷、排考、监考、阅卷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19500"/>
            <a:ext cx="4381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975" b="0">
                <a:solidFill>
                  <a:srgbClr val="8C919C"/>
                </a:solidFill>
                <a:latin typeface="Microsoft YaHei"/>
                <a:ea typeface="Microsoft YaHei"/>
              </a:rPr>
              <a:t>学员：报名、答题、交卷、查分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3340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>
                <a:solidFill>
                  <a:srgbClr val="8C919C"/>
                </a:solidFill>
                <a:latin typeface="Microsoft YaHei"/>
                <a:ea typeface="Microsoft YaHei"/>
              </a:rPr>
              <a:t>V0.1.0　·　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目录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操作步骤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3820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7191E"/>
                </a:solidFill>
                <a:latin typeface="Microsoft YaHei"/>
                <a:ea typeface="Microsoft YaHei"/>
              </a:rPr>
              <a:t>从建题库到出成绩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9065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>
                <a:solidFill>
                  <a:srgbClr val="4A4F5A"/>
                </a:solidFill>
                <a:latin typeface="Microsoft YaHei"/>
                <a:ea typeface="Microsoft YaHei"/>
              </a:rPr>
              <a:t>01–11 是管理员视角，12–13 是学员视角；全程一份数据，不需要导表。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9526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100" y="19335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登录后台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4450" y="19431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22574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479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24288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首页看什么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4450" y="24384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7527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9432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1100" y="29241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建大纲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4450" y="29337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" y="32480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" y="34385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1100" y="34194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建题库、录题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4450" y="3429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2000" y="37433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2000" y="39338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1100" y="39147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组卷策略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4450" y="39243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00" y="42386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000" y="44291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1100" y="44100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试卷管理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4450" y="44196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2000" y="47339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000" y="49244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1100" y="49053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排考试计划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4450" y="49149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52292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96000" y="19526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5100" y="19335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报名审核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58450" y="19431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96000" y="22574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96000" y="24479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5100" y="24288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考试监控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58450" y="24384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0" y="27527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0" y="29432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5100" y="29241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考试阅卷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58450" y="29337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96000" y="32480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0" y="34385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5100" y="34194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交卷记录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58450" y="34290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0" y="37433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96000" y="39338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15100" y="39147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学员报名与答题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58450" y="39243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96000" y="42386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96000" y="4429125"/>
            <a:ext cx="381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5100" y="4410075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学员查分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58450" y="4419600"/>
            <a:ext cx="59055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96000" y="4733925"/>
            <a:ext cx="4953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62000" y="5676900"/>
            <a:ext cx="10668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2000" y="5829300"/>
            <a:ext cx="10668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讲的时候按 01 → 13 的顺序走，每页三步，讲到哪一步就在系统里点哪一步。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登录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登录：一个地址，两种角色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浏览器访问　http://&lt;服务器IP&gt;:8080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669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打开地址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21145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局域网内用服务器 IP 加 8080 端口访问；部署方式见手册 3.3。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7432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填账号密码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29908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管理员填 admin，学员填管理员分配的登录名；再输入 4 位图形验证码，点验证码可换一张。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195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看菜单认角色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8671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管理员是完整菜单，学员只有「学员中心」四项，登录后直接落到对应首页。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533900"/>
            <a:ext cx="447675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686300"/>
            <a:ext cx="4476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首次登录后先改密码：「个人中心 → 修改密码」。</a:t>
            </a:r>
          </a:p>
        </p:txBody>
      </p:sp>
      <p:pic>
        <p:nvPicPr>
          <p:cNvPr id="13" name="Picture 12" descr="u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644173"/>
            <a:ext cx="5524500" cy="4236404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登录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首页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首页：今天的活都在这屏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登录后默认进入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0" y="18669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看第一行规模数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15150" y="21145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学员数、题库量、试题量、试卷数、在考计划、今日考试，一眼看清家底。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67500" y="27432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看第二行运行数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15150" y="29908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参考人次、平均分、及格率、待批阅、待审核，卡在哪一环一目了然。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7500" y="36195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点数字进列表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5150" y="38671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待办事项在下方逐条列出，点「去处理」直达对应页面。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67500" y="4533900"/>
            <a:ext cx="447675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7500" y="4686300"/>
            <a:ext cx="4476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统计口径来自真实答卷，没交卷就是 0，不做模拟填充。</a:t>
            </a:r>
          </a:p>
        </p:txBody>
      </p:sp>
      <p:pic>
        <p:nvPicPr>
          <p:cNvPr id="13" name="Picture 12" descr="u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31124"/>
            <a:ext cx="5524500" cy="2662502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首页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大纲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大纲：先立骨架，题才有地方挂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考试中心 → 大纲管理</a:t>
            </a:r>
          </a:p>
        </p:txBody>
      </p:sp>
      <p:pic>
        <p:nvPicPr>
          <p:cNvPr id="5" name="Picture 4" descr="u_out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95450"/>
            <a:ext cx="10668000" cy="2185458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" y="4319058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新建大纲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557183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填名称、分类、版本号，一场考试对应一份大纲。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4319058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建章节层级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4557183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按章节树往下拆，题目最终挂到最细一级。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319058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设为启用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4557183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只有启用状态的大纲，建题库时才能被选到。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47758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已被题库引用的大纲不能删除，改版请升版本号。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大纲管理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04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题库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题库：录一次，出卷只挑不抄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考试中心 → 题库与试题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669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建库并挂大纲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21145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题库必须挂在大纲下，否则组卷时抽不到题。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7432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录题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29908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六种题型：单选、多选、判断、填空、简答，以及带子题的案例题，同页切换录入。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195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写解析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8671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解析随成绩展示给学员；主观题另需填参考答案。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533900"/>
            <a:ext cx="447675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686300"/>
            <a:ext cx="4476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同一道题只存一份，被多张试卷引用时改一次即全部生效。</a:t>
            </a:r>
          </a:p>
        </p:txBody>
      </p:sp>
      <p:pic>
        <p:nvPicPr>
          <p:cNvPr id="13" name="Picture 12" descr="u_ques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2384127"/>
            <a:ext cx="5524500" cy="2756495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题库与试题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05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组卷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组卷策略：把配比存成模板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考试中心 → 组卷策略</a:t>
            </a:r>
          </a:p>
        </p:txBody>
      </p:sp>
      <p:pic>
        <p:nvPicPr>
          <p:cNvPr id="5" name="Picture 4" descr="u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093" y="1695450"/>
            <a:ext cx="8925813" cy="2857500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" y="4991100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设题型配比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5229225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每种题型抽几道、每题多少分，总分自动累加。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4991100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绑定大纲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5229225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策略从哪份大纲的题库里抽；抽不够会直接提示缺口。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991100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保存复用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5229225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同类考试下次套用同一策略，不用重配。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601980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配比之和要等于试卷总分，否则出卷时报错。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组卷策略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06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试卷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试卷：策略一出，卷子就有了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考试中心 → 试卷管理</a:t>
            </a:r>
          </a:p>
        </p:txBody>
      </p:sp>
      <p:pic>
        <p:nvPicPr>
          <p:cNvPr id="5" name="Picture 4" descr="u_pap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95450"/>
            <a:ext cx="10668000" cy="2200275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" y="4333875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从策略生成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572000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选策略一键出卷，题号顺序自动打乱。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4333875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人工调整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4572000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个别题要换就在试卷里手动替换，不动配比。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333875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发布试卷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4572000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发布后，才能被考试计划选中。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62575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已被计划引用的试卷删不掉，避免历史答卷断链。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试卷管理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07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排考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排考：时间、试卷、谁能考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考试中心 → 考试计划</a:t>
            </a:r>
          </a:p>
        </p:txBody>
      </p:sp>
      <p:pic>
        <p:nvPicPr>
          <p:cNvPr id="5" name="Picture 4" descr="u_pl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95450"/>
            <a:ext cx="10668000" cy="2218796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" y="4352396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新建计划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590521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选试卷，填名称、开始与结束时间、考试时长、参考范围。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4352396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走状态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4590521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草稿 → 已发布 → 进行中 → 已结束，只有「进行中」学员才能进考场。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352396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发布成绩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4590521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列表里打开「发布成绩」开关，学员才看得到分数与解析。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81096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已发布的计划要改关键信息，建议结束再新建，避免学员端数据错乱。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考试计划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08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报名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报名：要审核就在这里点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考试中心 → 考试报名</a:t>
            </a:r>
          </a:p>
        </p:txBody>
      </p:sp>
      <p:pic>
        <p:nvPicPr>
          <p:cNvPr id="5" name="Picture 4" descr="u_signup-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95450"/>
            <a:ext cx="10668000" cy="2185458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" y="4319058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看申请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557183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学员在学员端提交报名后，这里出现待审记录。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4319058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通过或拒绝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4557183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通过后学员状态变「可参加考试」；被拒的尝试开考会被拦住。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319058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允许反悔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4557183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学员可自行取消报名，取消后可重新报名。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47758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计划里已指定参考范围时，名单内的人不需要再走报名审核。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考试报名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09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监考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监考：一个人看一屋子人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考试中心 → 考试监控</a:t>
            </a:r>
          </a:p>
        </p:txBody>
      </p:sp>
      <p:pic>
        <p:nvPicPr>
          <p:cNvPr id="5" name="Picture 4" descr="u_pro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95450"/>
            <a:ext cx="10668000" cy="2437342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" y="4570942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盯顶部一行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809067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在考、已交卷、平均分、切屏异常、剩余时间，10 秒自动刷新。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4570942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找异常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4809067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切屏与窗口失焦按人累计，次数多的考生在列表里标出来。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570942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强制交卷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4809067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卡死或确认违规的答卷直接收卷，已答内容照常进阅卷。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599642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切屏和失焦都由浏览器事件采集，学员端不用装任何客户端。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考试监控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10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阅卷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阅卷：主观题逐题给分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考试中心 → 考试阅卷</a:t>
            </a:r>
          </a:p>
        </p:txBody>
      </p:sp>
      <p:pic>
        <p:nvPicPr>
          <p:cNvPr id="5" name="Picture 4" descr="u_ma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95450"/>
            <a:ext cx="10668000" cy="2141008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" y="4274608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进待批答卷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512733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列表显示主观题进度，点「批阅」进评分界面。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4274608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逐题打分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4512733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客观题已自动判分不可改；主观题按参考答案给分并填评语。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274608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保存即汇总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4512733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保存后系统重算总分，同步进成绩统计。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303308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主观题全部批完，答卷才进入「已批阅」，成绩才算定稿。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考试阅卷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11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查卷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查卷：谁交了、交了什么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考试中心 → 交卷记录</a:t>
            </a:r>
          </a:p>
        </p:txBody>
      </p:sp>
      <p:pic>
        <p:nvPicPr>
          <p:cNvPr id="5" name="Picture 4" descr="u_reco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95450"/>
            <a:ext cx="10668000" cy="1978025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" y="4191000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三维筛选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429125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按考试、状态、学员姓名定位一张答卷。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4191000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展开答卷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4429125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点「答卷」看每题作答与得分，含切屏次数。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191000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跳转复核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4429125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需要人工复核的，从抽屉直接跳到阅卷页。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219700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记录只增不改，交卷时间以服务端时间为准。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交卷记录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12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学员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学员端：报名、答题、交卷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学员中心 → 考试中心</a:t>
            </a:r>
          </a:p>
        </p:txBody>
      </p:sp>
      <p:pic>
        <p:nvPicPr>
          <p:cNvPr id="5" name="Picture 4" descr="u_stu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95450"/>
            <a:ext cx="10668000" cy="2767012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62000" y="4900612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报名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5138738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选可参加的考试点「报名」；需审核的等管理员通过。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4900612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答题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3600" y="5138738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开始后顶部倒计时以服务端为准，答案自动保存，断网重登可续答。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4900612"/>
            <a:ext cx="3302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12" b="1">
                <a:solidFill>
                  <a:srgbClr val="17191E"/>
                </a:solidFill>
                <a:latin typeface="Microsoft YaHei"/>
                <a:ea typeface="Microsoft YaHei"/>
              </a:rPr>
              <a:t>　交卷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6600" y="5138738"/>
            <a:ext cx="3073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交卷前看题号列表的未答标记；交卷幂等，重复点不会出两份卷。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929312"/>
            <a:ext cx="10668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考试中切屏会被记录，次数多了会进监控端的异常列表。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学员中心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245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1">
                <a:solidFill>
                  <a:srgbClr val="1F3A5F"/>
                </a:solidFill>
                <a:latin typeface="Microsoft YaHei"/>
                <a:ea typeface="Microsoft YaHei"/>
              </a:rPr>
              <a:t>13</a:t>
            </a: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　查分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19150"/>
            <a:ext cx="99060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50" b="1">
                <a:solidFill>
                  <a:srgbClr val="17191E"/>
                </a:solidFill>
                <a:latin typeface="Microsoft YaHei"/>
                <a:ea typeface="Microsoft YaHei"/>
              </a:rPr>
              <a:t>查分：总分、对错、解析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314450"/>
            <a:ext cx="99060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学员中心 → 考试中心 → 成绩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8669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01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等发布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21145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成绩未发布时只显示「已交卷」，属正常现象。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7432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02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看总分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9650" y="29908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总分、是否及格、答对题数一屏给出。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3619500"/>
            <a:ext cx="47625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1">
                <a:solidFill>
                  <a:srgbClr val="1F3A5F"/>
                </a:solidFill>
                <a:latin typeface="Microsoft YaHei"/>
                <a:ea typeface="Microsoft YaHei"/>
              </a:rPr>
              <a:t>03</a:t>
            </a:r>
            <a:r>
              <a:rPr sz="1050" b="1">
                <a:solidFill>
                  <a:srgbClr val="17191E"/>
                </a:solidFill>
                <a:latin typeface="Microsoft YaHei"/>
                <a:ea typeface="Microsoft YaHei"/>
              </a:rPr>
              <a:t>　逐题复盘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50" y="3867150"/>
            <a:ext cx="4476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862" b="0">
                <a:solidFill>
                  <a:srgbClr val="4A4F5A"/>
                </a:solidFill>
                <a:latin typeface="Microsoft YaHei"/>
                <a:ea typeface="Microsoft YaHei"/>
              </a:rPr>
              <a:t>每题列出我的答案、正确答案与解析，错的收进错题本。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533900"/>
            <a:ext cx="447675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686300"/>
            <a:ext cx="4476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825" b="0">
                <a:solidFill>
                  <a:srgbClr val="8C919C"/>
                </a:solidFill>
                <a:latin typeface="Microsoft YaHei"/>
                <a:ea typeface="Microsoft YaHei"/>
              </a:rPr>
              <a:t>提示　错题本按题库归集，可以反复练到会为止。</a:t>
            </a:r>
          </a:p>
        </p:txBody>
      </p:sp>
      <p:pic>
        <p:nvPicPr>
          <p:cNvPr id="13" name="Picture 12" descr="u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652323"/>
            <a:ext cx="5524500" cy="4220104"/>
          </a:xfrm>
          <a:prstGeom prst="rect">
            <a:avLst/>
          </a:prstGeom>
          <a:ln w="9525">
            <a:solidFill>
              <a:srgbClr val="DCDEE3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成绩查询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428750"/>
            <a:ext cx="8572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1">
                <a:solidFill>
                  <a:srgbClr val="17191E"/>
                </a:solidFill>
                <a:latin typeface="Microsoft YaHei"/>
                <a:ea typeface="Microsoft YaHei"/>
              </a:rPr>
              <a:t>需要时，从这一页开始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9812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>
                <a:solidFill>
                  <a:srgbClr val="4A4F5A"/>
                </a:solidFill>
                <a:latin typeface="Microsoft YaHei"/>
                <a:ea typeface="Microsoft YaHei"/>
              </a:rPr>
              <a:t>账号、文档、出问题找谁，都在这。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2686050"/>
            <a:ext cx="10668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8575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>
                <a:solidFill>
                  <a:srgbClr val="8C919C"/>
                </a:solidFill>
                <a:latin typeface="Microsoft YaHei"/>
                <a:ea typeface="Microsoft YaHei"/>
              </a:rPr>
              <a:t>管理员账号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283845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admin　初始密码见交付说明，登录后请立即修改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390900"/>
            <a:ext cx="10668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356235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>
                <a:solidFill>
                  <a:srgbClr val="8C919C"/>
                </a:solidFill>
                <a:latin typeface="Microsoft YaHei"/>
                <a:ea typeface="Microsoft YaHei"/>
              </a:rPr>
              <a:t>学员账号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7000" y="354330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「系统管理 → 用户管理」里新建，分配角色后即可登录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095750"/>
            <a:ext cx="10668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267200"/>
            <a:ext cx="1714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75" b="0">
                <a:solidFill>
                  <a:srgbClr val="8C919C"/>
                </a:solidFill>
                <a:latin typeface="Microsoft YaHei"/>
                <a:ea typeface="Microsoft YaHei"/>
              </a:rPr>
              <a:t>完整说明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67000" y="4248150"/>
            <a:ext cx="857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17191E"/>
                </a:solidFill>
                <a:latin typeface="Microsoft YaHei"/>
                <a:ea typeface="Microsoft YaHei"/>
              </a:rPr>
              <a:t>《考试系统操作手册》19 页，含安装部署、排障与默认配置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7150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C919C"/>
                </a:solidFill>
                <a:latin typeface="Microsoft YaHei"/>
                <a:ea typeface="Microsoft YaHei"/>
              </a:rPr>
              <a:t>遇到问题先翻手册第 8 章「常见问题与故障排查」；仍解决不了，把页面截图和 server-run.log 一起发过来。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6362700"/>
            <a:ext cx="381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结束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362700"/>
            <a:ext cx="114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25" b="0">
                <a:solidFill>
                  <a:srgbClr val="B0B4BD"/>
                </a:solidFill>
                <a:latin typeface="Microsoft YaHei"/>
                <a:ea typeface="Microsoft YaHe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